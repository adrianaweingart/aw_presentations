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7" r:id="rId11"/>
    <p:sldId id="265" r:id="rId12"/>
    <p:sldId id="266" r:id="rId13"/>
    <p:sldId id="268" r:id="rId14"/>
    <p:sldId id="269" r:id="rId15"/>
    <p:sldId id="270" r:id="rId16"/>
    <p:sldId id="271" r:id="rId17"/>
    <p:sldId id="273" r:id="rId18"/>
    <p:sldId id="274" r:id="rId19"/>
    <p:sldId id="272" r:id="rId20"/>
    <p:sldId id="275" r:id="rId21"/>
    <p:sldId id="277" r:id="rId22"/>
    <p:sldId id="276" r:id="rId23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L62LAgiW9iI5qtfwZSoNQ==" hashData="kJBORHegm8TD7Zw6qCqIohRsd1CyCP/D1VFsQ+7pznzPBm6avT5+ekVLweBVuMcspmjLKmlF2ZftwvZyx8zYgw=="/>
  <p:extLst>
    <p:ext uri="{521415D9-36F7-43E2-AB2F-B90AF26B5E84}">
      <p14:sectionLst xmlns:p14="http://schemas.microsoft.com/office/powerpoint/2010/main">
        <p14:section name="01 - Tensão (1-10min)" id="{DF45A53A-6D92-FF4D-93BF-43B210994B52}">
          <p14:sldIdLst>
            <p14:sldId id="256"/>
            <p14:sldId id="257"/>
            <p14:sldId id="258"/>
          </p14:sldIdLst>
        </p14:section>
        <p14:section name="02 - Treinando o olhar (10-20min)" id="{2D358133-7A43-2540-B6A8-9FE72C0067F5}">
          <p14:sldIdLst>
            <p14:sldId id="259"/>
            <p14:sldId id="260"/>
            <p14:sldId id="262"/>
            <p14:sldId id="263"/>
            <p14:sldId id="261"/>
          </p14:sldIdLst>
        </p14:section>
        <p14:section name="03 - O Makeover (20-45min)" id="{0A9FFE54-9B76-124A-9914-325F9858399E}">
          <p14:sldIdLst>
            <p14:sldId id="264"/>
            <p14:sldId id="267"/>
            <p14:sldId id="265"/>
            <p14:sldId id="266"/>
            <p14:sldId id="268"/>
            <p14:sldId id="269"/>
            <p14:sldId id="270"/>
            <p14:sldId id="271"/>
            <p14:sldId id="273"/>
          </p14:sldIdLst>
        </p14:section>
        <p14:section name="04 - Consolidação (50-57min)" id="{63AE1D7E-B81D-CA48-9829-9429043C1D42}">
          <p14:sldIdLst>
            <p14:sldId id="274"/>
          </p14:sldIdLst>
        </p14:section>
        <p14:section name="05 - Fechamento (57-60min)" id="{D7A2673D-08DF-BC45-8194-E0C84F43AE4D}">
          <p14:sldIdLst>
            <p14:sldId id="272"/>
            <p14:sldId id="275"/>
            <p14:sldId id="277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294"/>
    <p:restoredTop sz="95485"/>
  </p:normalViewPr>
  <p:slideViewPr>
    <p:cSldViewPr snapToGrid="0">
      <p:cViewPr varScale="1">
        <p:scale>
          <a:sx n="88" d="100"/>
          <a:sy n="88" d="100"/>
        </p:scale>
        <p:origin x="19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97B8B7-3C15-6845-B609-F4879B11B7A7}" type="doc">
      <dgm:prSet loTypeId="urn:microsoft.com/office/officeart/2005/8/layout/vProcess5" loCatId="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71A53405-FED5-1141-AF8D-82B8F0524D37}">
      <dgm:prSet phldrT="[Text]"/>
      <dgm:spPr/>
      <dgm:t>
        <a:bodyPr/>
        <a:lstStyle/>
        <a:p>
          <a:r>
            <a:rPr lang="en-US" dirty="0"/>
            <a:t>1 – </a:t>
          </a:r>
          <a:r>
            <a:rPr lang="en-US" dirty="0" err="1"/>
            <a:t>Comece</a:t>
          </a:r>
          <a:r>
            <a:rPr lang="en-US" dirty="0"/>
            <a:t> pela </a:t>
          </a:r>
          <a:r>
            <a:rPr lang="en-US" dirty="0" err="1"/>
            <a:t>pergunta</a:t>
          </a:r>
          <a:endParaRPr lang="en-US" dirty="0"/>
        </a:p>
      </dgm:t>
    </dgm:pt>
    <dgm:pt modelId="{EED7D6EE-D642-2440-B510-35B3F560AE3D}" type="parTrans" cxnId="{F3C8A59F-F43C-454C-9603-1BFCE56CFFEE}">
      <dgm:prSet/>
      <dgm:spPr/>
      <dgm:t>
        <a:bodyPr/>
        <a:lstStyle/>
        <a:p>
          <a:endParaRPr lang="en-US"/>
        </a:p>
      </dgm:t>
    </dgm:pt>
    <dgm:pt modelId="{B7717A30-6B4F-C04E-84CE-259608D10FF0}" type="sibTrans" cxnId="{F3C8A59F-F43C-454C-9603-1BFCE56CFFEE}">
      <dgm:prSet/>
      <dgm:spPr/>
      <dgm:t>
        <a:bodyPr/>
        <a:lstStyle/>
        <a:p>
          <a:endParaRPr lang="en-US"/>
        </a:p>
      </dgm:t>
    </dgm:pt>
    <dgm:pt modelId="{CB476243-B9D0-5741-821F-5E0C4781F0F9}">
      <dgm:prSet phldrT="[Text]"/>
      <dgm:spPr/>
      <dgm:t>
        <a:bodyPr/>
        <a:lstStyle/>
        <a:p>
          <a:r>
            <a:rPr lang="en-US" dirty="0"/>
            <a:t>2 – Defina a </a:t>
          </a:r>
          <a:r>
            <a:rPr lang="en-US" dirty="0" err="1"/>
            <a:t>mensagem</a:t>
          </a:r>
          <a:r>
            <a:rPr lang="en-US" dirty="0"/>
            <a:t> antes do </a:t>
          </a:r>
          <a:r>
            <a:rPr lang="en-US" dirty="0" err="1"/>
            <a:t>gráfico</a:t>
          </a:r>
          <a:r>
            <a:rPr lang="en-US" dirty="0"/>
            <a:t>	</a:t>
          </a:r>
        </a:p>
      </dgm:t>
    </dgm:pt>
    <dgm:pt modelId="{62341F2E-D8A6-9643-A578-5ACCDC2CE106}" type="parTrans" cxnId="{B2DA35D4-A126-6847-B4F9-F7B797544CAD}">
      <dgm:prSet/>
      <dgm:spPr/>
      <dgm:t>
        <a:bodyPr/>
        <a:lstStyle/>
        <a:p>
          <a:endParaRPr lang="en-US"/>
        </a:p>
      </dgm:t>
    </dgm:pt>
    <dgm:pt modelId="{D8132426-C1FC-8349-ABC9-2B30A7600CF3}" type="sibTrans" cxnId="{B2DA35D4-A126-6847-B4F9-F7B797544CAD}">
      <dgm:prSet/>
      <dgm:spPr/>
      <dgm:t>
        <a:bodyPr/>
        <a:lstStyle/>
        <a:p>
          <a:endParaRPr lang="en-US"/>
        </a:p>
      </dgm:t>
    </dgm:pt>
    <dgm:pt modelId="{4372B8B9-00B6-4F40-BA24-7B6629B5B304}">
      <dgm:prSet phldrT="[Text]"/>
      <dgm:spPr/>
      <dgm:t>
        <a:bodyPr/>
        <a:lstStyle/>
        <a:p>
          <a:r>
            <a:rPr lang="en-US" dirty="0"/>
            <a:t>3 - </a:t>
          </a:r>
          <a:r>
            <a:rPr lang="en-US" dirty="0" err="1"/>
            <a:t>Reduza</a:t>
          </a:r>
          <a:r>
            <a:rPr lang="en-US" dirty="0"/>
            <a:t> para </a:t>
          </a:r>
          <a:r>
            <a:rPr lang="en-US" dirty="0" err="1"/>
            <a:t>amplificar</a:t>
          </a:r>
          <a:endParaRPr lang="en-US" dirty="0"/>
        </a:p>
      </dgm:t>
    </dgm:pt>
    <dgm:pt modelId="{32FA132F-1C47-C34E-8F3D-2CE4DDD1820D}" type="parTrans" cxnId="{AAE42A52-E1A9-E44E-9031-2DBF0203E4F5}">
      <dgm:prSet/>
      <dgm:spPr/>
      <dgm:t>
        <a:bodyPr/>
        <a:lstStyle/>
        <a:p>
          <a:endParaRPr lang="en-US"/>
        </a:p>
      </dgm:t>
    </dgm:pt>
    <dgm:pt modelId="{9231124D-17D9-EF4C-9160-B75DAB4E45CA}" type="sibTrans" cxnId="{AAE42A52-E1A9-E44E-9031-2DBF0203E4F5}">
      <dgm:prSet/>
      <dgm:spPr/>
      <dgm:t>
        <a:bodyPr/>
        <a:lstStyle/>
        <a:p>
          <a:endParaRPr lang="en-US"/>
        </a:p>
      </dgm:t>
    </dgm:pt>
    <dgm:pt modelId="{77A56A19-BC7B-5F48-96BF-E6C0E6132C63}">
      <dgm:prSet phldrT="[Text]"/>
      <dgm:spPr/>
      <dgm:t>
        <a:bodyPr/>
        <a:lstStyle/>
        <a:p>
          <a:r>
            <a:rPr lang="en-US" dirty="0"/>
            <a:t>4 - Use </a:t>
          </a:r>
          <a:r>
            <a:rPr lang="en-US" dirty="0" err="1"/>
            <a:t>cor</a:t>
          </a:r>
          <a:r>
            <a:rPr lang="en-US" dirty="0"/>
            <a:t> com </a:t>
          </a:r>
          <a:r>
            <a:rPr lang="en-US" dirty="0" err="1"/>
            <a:t>intenção</a:t>
          </a:r>
          <a:endParaRPr lang="en-US" dirty="0"/>
        </a:p>
      </dgm:t>
    </dgm:pt>
    <dgm:pt modelId="{4EAA339A-A566-E64B-B7C8-56EC7EF2C498}" type="parTrans" cxnId="{CE4D9665-297F-194C-B014-6AD974A1176A}">
      <dgm:prSet/>
      <dgm:spPr/>
      <dgm:t>
        <a:bodyPr/>
        <a:lstStyle/>
        <a:p>
          <a:endParaRPr lang="en-US"/>
        </a:p>
      </dgm:t>
    </dgm:pt>
    <dgm:pt modelId="{5C0EB57F-ECD9-5B44-AF5B-F1939C9E52B5}" type="sibTrans" cxnId="{CE4D9665-297F-194C-B014-6AD974A1176A}">
      <dgm:prSet/>
      <dgm:spPr/>
      <dgm:t>
        <a:bodyPr/>
        <a:lstStyle/>
        <a:p>
          <a:endParaRPr lang="en-US"/>
        </a:p>
      </dgm:t>
    </dgm:pt>
    <dgm:pt modelId="{4CD3B94C-BA42-D54E-B7A5-C874795D5BD0}">
      <dgm:prSet phldrT="[Text]"/>
      <dgm:spPr/>
      <dgm:t>
        <a:bodyPr/>
        <a:lstStyle/>
        <a:p>
          <a:r>
            <a:rPr lang="en-US" dirty="0"/>
            <a:t>5 - </a:t>
          </a:r>
          <a:r>
            <a:rPr lang="en-US" dirty="0" err="1"/>
            <a:t>Visualização</a:t>
          </a:r>
          <a:r>
            <a:rPr lang="en-US" dirty="0"/>
            <a:t> </a:t>
          </a:r>
          <a:r>
            <a:rPr lang="en-US" dirty="0" err="1"/>
            <a:t>é</a:t>
          </a:r>
          <a:r>
            <a:rPr lang="en-US" dirty="0"/>
            <a:t> </a:t>
          </a:r>
          <a:r>
            <a:rPr lang="en-US" dirty="0" err="1"/>
            <a:t>responsabilidade</a:t>
          </a:r>
          <a:endParaRPr lang="en-US" dirty="0"/>
        </a:p>
      </dgm:t>
    </dgm:pt>
    <dgm:pt modelId="{AD39B044-00AC-504F-A7E0-FB81C58C0099}" type="parTrans" cxnId="{9FE6773A-08C3-FD45-AF43-3D785E1C7DE9}">
      <dgm:prSet/>
      <dgm:spPr/>
      <dgm:t>
        <a:bodyPr/>
        <a:lstStyle/>
        <a:p>
          <a:endParaRPr lang="en-US"/>
        </a:p>
      </dgm:t>
    </dgm:pt>
    <dgm:pt modelId="{7650A7C8-F03F-D746-85CC-6CB30E006BC2}" type="sibTrans" cxnId="{9FE6773A-08C3-FD45-AF43-3D785E1C7DE9}">
      <dgm:prSet/>
      <dgm:spPr/>
      <dgm:t>
        <a:bodyPr/>
        <a:lstStyle/>
        <a:p>
          <a:endParaRPr lang="en-US"/>
        </a:p>
      </dgm:t>
    </dgm:pt>
    <dgm:pt modelId="{CF17BC7B-1924-0040-A0CE-E8E6913D89DA}" type="pres">
      <dgm:prSet presAssocID="{3A97B8B7-3C15-6845-B609-F4879B11B7A7}" presName="outerComposite" presStyleCnt="0">
        <dgm:presLayoutVars>
          <dgm:chMax val="5"/>
          <dgm:dir/>
          <dgm:resizeHandles val="exact"/>
        </dgm:presLayoutVars>
      </dgm:prSet>
      <dgm:spPr/>
    </dgm:pt>
    <dgm:pt modelId="{C5065AD8-6FB8-E349-9705-97ACE64A1E02}" type="pres">
      <dgm:prSet presAssocID="{3A97B8B7-3C15-6845-B609-F4879B11B7A7}" presName="dummyMaxCanvas" presStyleCnt="0">
        <dgm:presLayoutVars/>
      </dgm:prSet>
      <dgm:spPr/>
    </dgm:pt>
    <dgm:pt modelId="{03E80B3B-1E79-9040-AE45-EB23FD2D9FF4}" type="pres">
      <dgm:prSet presAssocID="{3A97B8B7-3C15-6845-B609-F4879B11B7A7}" presName="FiveNodes_1" presStyleLbl="node1" presStyleIdx="0" presStyleCnt="5">
        <dgm:presLayoutVars>
          <dgm:bulletEnabled val="1"/>
        </dgm:presLayoutVars>
      </dgm:prSet>
      <dgm:spPr/>
    </dgm:pt>
    <dgm:pt modelId="{00555850-77AB-1E44-8C25-72345D27E9F8}" type="pres">
      <dgm:prSet presAssocID="{3A97B8B7-3C15-6845-B609-F4879B11B7A7}" presName="FiveNodes_2" presStyleLbl="node1" presStyleIdx="1" presStyleCnt="5">
        <dgm:presLayoutVars>
          <dgm:bulletEnabled val="1"/>
        </dgm:presLayoutVars>
      </dgm:prSet>
      <dgm:spPr/>
    </dgm:pt>
    <dgm:pt modelId="{0EF33B7B-BB3F-5046-9794-DC2CC78C7130}" type="pres">
      <dgm:prSet presAssocID="{3A97B8B7-3C15-6845-B609-F4879B11B7A7}" presName="FiveNodes_3" presStyleLbl="node1" presStyleIdx="2" presStyleCnt="5">
        <dgm:presLayoutVars>
          <dgm:bulletEnabled val="1"/>
        </dgm:presLayoutVars>
      </dgm:prSet>
      <dgm:spPr/>
    </dgm:pt>
    <dgm:pt modelId="{E5AA79CD-3D03-7A44-B52F-B4A511F766A5}" type="pres">
      <dgm:prSet presAssocID="{3A97B8B7-3C15-6845-B609-F4879B11B7A7}" presName="FiveNodes_4" presStyleLbl="node1" presStyleIdx="3" presStyleCnt="5">
        <dgm:presLayoutVars>
          <dgm:bulletEnabled val="1"/>
        </dgm:presLayoutVars>
      </dgm:prSet>
      <dgm:spPr/>
    </dgm:pt>
    <dgm:pt modelId="{859E4D7B-E7BE-BD43-9557-ABADD42D327D}" type="pres">
      <dgm:prSet presAssocID="{3A97B8B7-3C15-6845-B609-F4879B11B7A7}" presName="FiveNodes_5" presStyleLbl="node1" presStyleIdx="4" presStyleCnt="5">
        <dgm:presLayoutVars>
          <dgm:bulletEnabled val="1"/>
        </dgm:presLayoutVars>
      </dgm:prSet>
      <dgm:spPr/>
    </dgm:pt>
    <dgm:pt modelId="{98E0526D-B2CC-6846-8F07-90D0C3FE4A51}" type="pres">
      <dgm:prSet presAssocID="{3A97B8B7-3C15-6845-B609-F4879B11B7A7}" presName="FiveConn_1-2" presStyleLbl="fgAccFollowNode1" presStyleIdx="0" presStyleCnt="4">
        <dgm:presLayoutVars>
          <dgm:bulletEnabled val="1"/>
        </dgm:presLayoutVars>
      </dgm:prSet>
      <dgm:spPr/>
    </dgm:pt>
    <dgm:pt modelId="{963ED669-E540-6746-B64B-263F1AEAE154}" type="pres">
      <dgm:prSet presAssocID="{3A97B8B7-3C15-6845-B609-F4879B11B7A7}" presName="FiveConn_2-3" presStyleLbl="fgAccFollowNode1" presStyleIdx="1" presStyleCnt="4">
        <dgm:presLayoutVars>
          <dgm:bulletEnabled val="1"/>
        </dgm:presLayoutVars>
      </dgm:prSet>
      <dgm:spPr/>
    </dgm:pt>
    <dgm:pt modelId="{857174E3-DE85-3942-9A8F-05DFF72FF51A}" type="pres">
      <dgm:prSet presAssocID="{3A97B8B7-3C15-6845-B609-F4879B11B7A7}" presName="FiveConn_3-4" presStyleLbl="fgAccFollowNode1" presStyleIdx="2" presStyleCnt="4">
        <dgm:presLayoutVars>
          <dgm:bulletEnabled val="1"/>
        </dgm:presLayoutVars>
      </dgm:prSet>
      <dgm:spPr/>
    </dgm:pt>
    <dgm:pt modelId="{5B1E3F5D-53CC-F349-A878-A17CA479E6DF}" type="pres">
      <dgm:prSet presAssocID="{3A97B8B7-3C15-6845-B609-F4879B11B7A7}" presName="FiveConn_4-5" presStyleLbl="fgAccFollowNode1" presStyleIdx="3" presStyleCnt="4">
        <dgm:presLayoutVars>
          <dgm:bulletEnabled val="1"/>
        </dgm:presLayoutVars>
      </dgm:prSet>
      <dgm:spPr/>
    </dgm:pt>
    <dgm:pt modelId="{1E02765F-D5CA-7B41-A84C-300C9ECABA89}" type="pres">
      <dgm:prSet presAssocID="{3A97B8B7-3C15-6845-B609-F4879B11B7A7}" presName="FiveNodes_1_text" presStyleLbl="node1" presStyleIdx="4" presStyleCnt="5">
        <dgm:presLayoutVars>
          <dgm:bulletEnabled val="1"/>
        </dgm:presLayoutVars>
      </dgm:prSet>
      <dgm:spPr/>
    </dgm:pt>
    <dgm:pt modelId="{84680B89-DE18-3E41-B15E-190CAC847EA7}" type="pres">
      <dgm:prSet presAssocID="{3A97B8B7-3C15-6845-B609-F4879B11B7A7}" presName="FiveNodes_2_text" presStyleLbl="node1" presStyleIdx="4" presStyleCnt="5">
        <dgm:presLayoutVars>
          <dgm:bulletEnabled val="1"/>
        </dgm:presLayoutVars>
      </dgm:prSet>
      <dgm:spPr/>
    </dgm:pt>
    <dgm:pt modelId="{4FC57547-9997-9E4C-8954-37BFD4C9D3EC}" type="pres">
      <dgm:prSet presAssocID="{3A97B8B7-3C15-6845-B609-F4879B11B7A7}" presName="FiveNodes_3_text" presStyleLbl="node1" presStyleIdx="4" presStyleCnt="5">
        <dgm:presLayoutVars>
          <dgm:bulletEnabled val="1"/>
        </dgm:presLayoutVars>
      </dgm:prSet>
      <dgm:spPr/>
    </dgm:pt>
    <dgm:pt modelId="{F9988466-B6BE-F643-8485-0F84DF6220E7}" type="pres">
      <dgm:prSet presAssocID="{3A97B8B7-3C15-6845-B609-F4879B11B7A7}" presName="FiveNodes_4_text" presStyleLbl="node1" presStyleIdx="4" presStyleCnt="5">
        <dgm:presLayoutVars>
          <dgm:bulletEnabled val="1"/>
        </dgm:presLayoutVars>
      </dgm:prSet>
      <dgm:spPr/>
    </dgm:pt>
    <dgm:pt modelId="{259FB8A5-C89C-E749-BCBE-1ECDF389055F}" type="pres">
      <dgm:prSet presAssocID="{3A97B8B7-3C15-6845-B609-F4879B11B7A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91D1802-ED43-6D48-BC19-106A868892D4}" type="presOf" srcId="{4CD3B94C-BA42-D54E-B7A5-C874795D5BD0}" destId="{259FB8A5-C89C-E749-BCBE-1ECDF389055F}" srcOrd="1" destOrd="0" presId="urn:microsoft.com/office/officeart/2005/8/layout/vProcess5"/>
    <dgm:cxn modelId="{FA2CD40C-4490-7542-97C7-11059F0D7FA5}" type="presOf" srcId="{77A56A19-BC7B-5F48-96BF-E6C0E6132C63}" destId="{F9988466-B6BE-F643-8485-0F84DF6220E7}" srcOrd="1" destOrd="0" presId="urn:microsoft.com/office/officeart/2005/8/layout/vProcess5"/>
    <dgm:cxn modelId="{32247E0F-3454-AB46-AF8F-DB41F6AEEE39}" type="presOf" srcId="{D8132426-C1FC-8349-ABC9-2B30A7600CF3}" destId="{963ED669-E540-6746-B64B-263F1AEAE154}" srcOrd="0" destOrd="0" presId="urn:microsoft.com/office/officeart/2005/8/layout/vProcess5"/>
    <dgm:cxn modelId="{BA926A15-4FBC-F14D-B422-BF8066450B05}" type="presOf" srcId="{71A53405-FED5-1141-AF8D-82B8F0524D37}" destId="{03E80B3B-1E79-9040-AE45-EB23FD2D9FF4}" srcOrd="0" destOrd="0" presId="urn:microsoft.com/office/officeart/2005/8/layout/vProcess5"/>
    <dgm:cxn modelId="{C1F4D029-B61A-474A-8370-FFE1D89F9D25}" type="presOf" srcId="{9231124D-17D9-EF4C-9160-B75DAB4E45CA}" destId="{857174E3-DE85-3942-9A8F-05DFF72FF51A}" srcOrd="0" destOrd="0" presId="urn:microsoft.com/office/officeart/2005/8/layout/vProcess5"/>
    <dgm:cxn modelId="{DFBD1738-D529-304A-B5F1-F81927E4D8FD}" type="presOf" srcId="{71A53405-FED5-1141-AF8D-82B8F0524D37}" destId="{1E02765F-D5CA-7B41-A84C-300C9ECABA89}" srcOrd="1" destOrd="0" presId="urn:microsoft.com/office/officeart/2005/8/layout/vProcess5"/>
    <dgm:cxn modelId="{9FE6773A-08C3-FD45-AF43-3D785E1C7DE9}" srcId="{3A97B8B7-3C15-6845-B609-F4879B11B7A7}" destId="{4CD3B94C-BA42-D54E-B7A5-C874795D5BD0}" srcOrd="4" destOrd="0" parTransId="{AD39B044-00AC-504F-A7E0-FB81C58C0099}" sibTransId="{7650A7C8-F03F-D746-85CC-6CB30E006BC2}"/>
    <dgm:cxn modelId="{75EF3440-0171-254C-8830-72427D43C9DA}" type="presOf" srcId="{3A97B8B7-3C15-6845-B609-F4879B11B7A7}" destId="{CF17BC7B-1924-0040-A0CE-E8E6913D89DA}" srcOrd="0" destOrd="0" presId="urn:microsoft.com/office/officeart/2005/8/layout/vProcess5"/>
    <dgm:cxn modelId="{AAE42A52-E1A9-E44E-9031-2DBF0203E4F5}" srcId="{3A97B8B7-3C15-6845-B609-F4879B11B7A7}" destId="{4372B8B9-00B6-4F40-BA24-7B6629B5B304}" srcOrd="2" destOrd="0" parTransId="{32FA132F-1C47-C34E-8F3D-2CE4DDD1820D}" sibTransId="{9231124D-17D9-EF4C-9160-B75DAB4E45CA}"/>
    <dgm:cxn modelId="{CE4D9665-297F-194C-B014-6AD974A1176A}" srcId="{3A97B8B7-3C15-6845-B609-F4879B11B7A7}" destId="{77A56A19-BC7B-5F48-96BF-E6C0E6132C63}" srcOrd="3" destOrd="0" parTransId="{4EAA339A-A566-E64B-B7C8-56EC7EF2C498}" sibTransId="{5C0EB57F-ECD9-5B44-AF5B-F1939C9E52B5}"/>
    <dgm:cxn modelId="{470CB273-7E38-3547-995B-4005275801EF}" type="presOf" srcId="{4372B8B9-00B6-4F40-BA24-7B6629B5B304}" destId="{4FC57547-9997-9E4C-8954-37BFD4C9D3EC}" srcOrd="1" destOrd="0" presId="urn:microsoft.com/office/officeart/2005/8/layout/vProcess5"/>
    <dgm:cxn modelId="{0BCE9D7A-770D-F941-9B4A-15174A4D9464}" type="presOf" srcId="{4CD3B94C-BA42-D54E-B7A5-C874795D5BD0}" destId="{859E4D7B-E7BE-BD43-9557-ABADD42D327D}" srcOrd="0" destOrd="0" presId="urn:microsoft.com/office/officeart/2005/8/layout/vProcess5"/>
    <dgm:cxn modelId="{29260F83-3930-9141-B87C-D10C8F137775}" type="presOf" srcId="{4372B8B9-00B6-4F40-BA24-7B6629B5B304}" destId="{0EF33B7B-BB3F-5046-9794-DC2CC78C7130}" srcOrd="0" destOrd="0" presId="urn:microsoft.com/office/officeart/2005/8/layout/vProcess5"/>
    <dgm:cxn modelId="{B7657288-EB49-4745-9C55-F9762828F173}" type="presOf" srcId="{CB476243-B9D0-5741-821F-5E0C4781F0F9}" destId="{00555850-77AB-1E44-8C25-72345D27E9F8}" srcOrd="0" destOrd="0" presId="urn:microsoft.com/office/officeart/2005/8/layout/vProcess5"/>
    <dgm:cxn modelId="{BA67ED98-0DFA-704B-84EF-EE1ED7556880}" type="presOf" srcId="{77A56A19-BC7B-5F48-96BF-E6C0E6132C63}" destId="{E5AA79CD-3D03-7A44-B52F-B4A511F766A5}" srcOrd="0" destOrd="0" presId="urn:microsoft.com/office/officeart/2005/8/layout/vProcess5"/>
    <dgm:cxn modelId="{F3C8A59F-F43C-454C-9603-1BFCE56CFFEE}" srcId="{3A97B8B7-3C15-6845-B609-F4879B11B7A7}" destId="{71A53405-FED5-1141-AF8D-82B8F0524D37}" srcOrd="0" destOrd="0" parTransId="{EED7D6EE-D642-2440-B510-35B3F560AE3D}" sibTransId="{B7717A30-6B4F-C04E-84CE-259608D10FF0}"/>
    <dgm:cxn modelId="{BC8FDBA7-1C4C-1D42-899A-587DF71B2373}" type="presOf" srcId="{CB476243-B9D0-5741-821F-5E0C4781F0F9}" destId="{84680B89-DE18-3E41-B15E-190CAC847EA7}" srcOrd="1" destOrd="0" presId="urn:microsoft.com/office/officeart/2005/8/layout/vProcess5"/>
    <dgm:cxn modelId="{B2DA35D4-A126-6847-B4F9-F7B797544CAD}" srcId="{3A97B8B7-3C15-6845-B609-F4879B11B7A7}" destId="{CB476243-B9D0-5741-821F-5E0C4781F0F9}" srcOrd="1" destOrd="0" parTransId="{62341F2E-D8A6-9643-A578-5ACCDC2CE106}" sibTransId="{D8132426-C1FC-8349-ABC9-2B30A7600CF3}"/>
    <dgm:cxn modelId="{F1885ED6-0A48-5E4F-8658-2513C3A499C9}" type="presOf" srcId="{5C0EB57F-ECD9-5B44-AF5B-F1939C9E52B5}" destId="{5B1E3F5D-53CC-F349-A878-A17CA479E6DF}" srcOrd="0" destOrd="0" presId="urn:microsoft.com/office/officeart/2005/8/layout/vProcess5"/>
    <dgm:cxn modelId="{38C324E7-4AA9-F14A-AE1D-A4B922930B63}" type="presOf" srcId="{B7717A30-6B4F-C04E-84CE-259608D10FF0}" destId="{98E0526D-B2CC-6846-8F07-90D0C3FE4A51}" srcOrd="0" destOrd="0" presId="urn:microsoft.com/office/officeart/2005/8/layout/vProcess5"/>
    <dgm:cxn modelId="{BC5F3A2A-5736-0B4B-8BEF-079FCEA3AC7A}" type="presParOf" srcId="{CF17BC7B-1924-0040-A0CE-E8E6913D89DA}" destId="{C5065AD8-6FB8-E349-9705-97ACE64A1E02}" srcOrd="0" destOrd="0" presId="urn:microsoft.com/office/officeart/2005/8/layout/vProcess5"/>
    <dgm:cxn modelId="{66FB14D2-BA9C-BB43-91E9-63FF8A7CAB17}" type="presParOf" srcId="{CF17BC7B-1924-0040-A0CE-E8E6913D89DA}" destId="{03E80B3B-1E79-9040-AE45-EB23FD2D9FF4}" srcOrd="1" destOrd="0" presId="urn:microsoft.com/office/officeart/2005/8/layout/vProcess5"/>
    <dgm:cxn modelId="{B2A9E8DD-D448-244D-ADAA-061969B18B9F}" type="presParOf" srcId="{CF17BC7B-1924-0040-A0CE-E8E6913D89DA}" destId="{00555850-77AB-1E44-8C25-72345D27E9F8}" srcOrd="2" destOrd="0" presId="urn:microsoft.com/office/officeart/2005/8/layout/vProcess5"/>
    <dgm:cxn modelId="{4FE1F563-25D1-B74F-A391-9AB019A02B55}" type="presParOf" srcId="{CF17BC7B-1924-0040-A0CE-E8E6913D89DA}" destId="{0EF33B7B-BB3F-5046-9794-DC2CC78C7130}" srcOrd="3" destOrd="0" presId="urn:microsoft.com/office/officeart/2005/8/layout/vProcess5"/>
    <dgm:cxn modelId="{1F9166DC-CAFD-A744-9944-9276AA3B7A4C}" type="presParOf" srcId="{CF17BC7B-1924-0040-A0CE-E8E6913D89DA}" destId="{E5AA79CD-3D03-7A44-B52F-B4A511F766A5}" srcOrd="4" destOrd="0" presId="urn:microsoft.com/office/officeart/2005/8/layout/vProcess5"/>
    <dgm:cxn modelId="{D34BA97E-87A6-DF47-B741-826CF7B107B1}" type="presParOf" srcId="{CF17BC7B-1924-0040-A0CE-E8E6913D89DA}" destId="{859E4D7B-E7BE-BD43-9557-ABADD42D327D}" srcOrd="5" destOrd="0" presId="urn:microsoft.com/office/officeart/2005/8/layout/vProcess5"/>
    <dgm:cxn modelId="{4BF84B14-7ABE-EF40-85B5-9E09ABF710EA}" type="presParOf" srcId="{CF17BC7B-1924-0040-A0CE-E8E6913D89DA}" destId="{98E0526D-B2CC-6846-8F07-90D0C3FE4A51}" srcOrd="6" destOrd="0" presId="urn:microsoft.com/office/officeart/2005/8/layout/vProcess5"/>
    <dgm:cxn modelId="{215CB74D-8FA5-3B49-ADCF-33861DAB6F70}" type="presParOf" srcId="{CF17BC7B-1924-0040-A0CE-E8E6913D89DA}" destId="{963ED669-E540-6746-B64B-263F1AEAE154}" srcOrd="7" destOrd="0" presId="urn:microsoft.com/office/officeart/2005/8/layout/vProcess5"/>
    <dgm:cxn modelId="{D0F0A5A6-B0E1-B441-A748-6789CA92AB8C}" type="presParOf" srcId="{CF17BC7B-1924-0040-A0CE-E8E6913D89DA}" destId="{857174E3-DE85-3942-9A8F-05DFF72FF51A}" srcOrd="8" destOrd="0" presId="urn:microsoft.com/office/officeart/2005/8/layout/vProcess5"/>
    <dgm:cxn modelId="{AAC5A95E-270E-ED4B-9E77-3E6524107171}" type="presParOf" srcId="{CF17BC7B-1924-0040-A0CE-E8E6913D89DA}" destId="{5B1E3F5D-53CC-F349-A878-A17CA479E6DF}" srcOrd="9" destOrd="0" presId="urn:microsoft.com/office/officeart/2005/8/layout/vProcess5"/>
    <dgm:cxn modelId="{DAB74C76-6311-5646-B9A4-A424530B9472}" type="presParOf" srcId="{CF17BC7B-1924-0040-A0CE-E8E6913D89DA}" destId="{1E02765F-D5CA-7B41-A84C-300C9ECABA89}" srcOrd="10" destOrd="0" presId="urn:microsoft.com/office/officeart/2005/8/layout/vProcess5"/>
    <dgm:cxn modelId="{9AB88D70-16F1-1544-B81E-7AD71F90CB36}" type="presParOf" srcId="{CF17BC7B-1924-0040-A0CE-E8E6913D89DA}" destId="{84680B89-DE18-3E41-B15E-190CAC847EA7}" srcOrd="11" destOrd="0" presId="urn:microsoft.com/office/officeart/2005/8/layout/vProcess5"/>
    <dgm:cxn modelId="{7304ACA3-23E7-CF46-B685-6DA8D5F1CFF2}" type="presParOf" srcId="{CF17BC7B-1924-0040-A0CE-E8E6913D89DA}" destId="{4FC57547-9997-9E4C-8954-37BFD4C9D3EC}" srcOrd="12" destOrd="0" presId="urn:microsoft.com/office/officeart/2005/8/layout/vProcess5"/>
    <dgm:cxn modelId="{3C0DBE27-B7F8-304E-A102-AA6F8D39DC5E}" type="presParOf" srcId="{CF17BC7B-1924-0040-A0CE-E8E6913D89DA}" destId="{F9988466-B6BE-F643-8485-0F84DF6220E7}" srcOrd="13" destOrd="0" presId="urn:microsoft.com/office/officeart/2005/8/layout/vProcess5"/>
    <dgm:cxn modelId="{EADA78B5-ED9F-4748-88F0-41100DD3F94E}" type="presParOf" srcId="{CF17BC7B-1924-0040-A0CE-E8E6913D89DA}" destId="{259FB8A5-C89C-E749-BCBE-1ECDF389055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E80B3B-1E79-9040-AE45-EB23FD2D9FF4}">
      <dsp:nvSpPr>
        <dsp:cNvPr id="0" name=""/>
        <dsp:cNvSpPr/>
      </dsp:nvSpPr>
      <dsp:spPr>
        <a:xfrm>
          <a:off x="0" y="0"/>
          <a:ext cx="7159182" cy="9753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1 – </a:t>
          </a:r>
          <a:r>
            <a:rPr lang="en-US" sz="2500" kern="1200" dirty="0" err="1"/>
            <a:t>Comece</a:t>
          </a:r>
          <a:r>
            <a:rPr lang="en-US" sz="2500" kern="1200" dirty="0"/>
            <a:t> pela </a:t>
          </a:r>
          <a:r>
            <a:rPr lang="en-US" sz="2500" kern="1200" dirty="0" err="1"/>
            <a:t>pergunta</a:t>
          </a:r>
          <a:endParaRPr lang="en-US" sz="2500" kern="1200" dirty="0"/>
        </a:p>
      </dsp:txBody>
      <dsp:txXfrm>
        <a:off x="28567" y="28567"/>
        <a:ext cx="5992575" cy="918226"/>
      </dsp:txXfrm>
    </dsp:sp>
    <dsp:sp modelId="{00555850-77AB-1E44-8C25-72345D27E9F8}">
      <dsp:nvSpPr>
        <dsp:cNvPr id="0" name=""/>
        <dsp:cNvSpPr/>
      </dsp:nvSpPr>
      <dsp:spPr>
        <a:xfrm>
          <a:off x="534614" y="1110826"/>
          <a:ext cx="7159182" cy="9753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2 – Defina a </a:t>
          </a:r>
          <a:r>
            <a:rPr lang="en-US" sz="2500" kern="1200" dirty="0" err="1"/>
            <a:t>mensagem</a:t>
          </a:r>
          <a:r>
            <a:rPr lang="en-US" sz="2500" kern="1200" dirty="0"/>
            <a:t> antes do </a:t>
          </a:r>
          <a:r>
            <a:rPr lang="en-US" sz="2500" kern="1200" dirty="0" err="1"/>
            <a:t>gráfico</a:t>
          </a:r>
          <a:r>
            <a:rPr lang="en-US" sz="2500" kern="1200" dirty="0"/>
            <a:t>	</a:t>
          </a:r>
        </a:p>
      </dsp:txBody>
      <dsp:txXfrm>
        <a:off x="563181" y="1139393"/>
        <a:ext cx="5933449" cy="918226"/>
      </dsp:txXfrm>
    </dsp:sp>
    <dsp:sp modelId="{0EF33B7B-BB3F-5046-9794-DC2CC78C7130}">
      <dsp:nvSpPr>
        <dsp:cNvPr id="0" name=""/>
        <dsp:cNvSpPr/>
      </dsp:nvSpPr>
      <dsp:spPr>
        <a:xfrm>
          <a:off x="1069228" y="2221653"/>
          <a:ext cx="7159182" cy="9753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3 - </a:t>
          </a:r>
          <a:r>
            <a:rPr lang="en-US" sz="2500" kern="1200" dirty="0" err="1"/>
            <a:t>Reduza</a:t>
          </a:r>
          <a:r>
            <a:rPr lang="en-US" sz="2500" kern="1200" dirty="0"/>
            <a:t> para </a:t>
          </a:r>
          <a:r>
            <a:rPr lang="en-US" sz="2500" kern="1200" dirty="0" err="1"/>
            <a:t>amplificar</a:t>
          </a:r>
          <a:endParaRPr lang="en-US" sz="2500" kern="1200" dirty="0"/>
        </a:p>
      </dsp:txBody>
      <dsp:txXfrm>
        <a:off x="1097795" y="2250220"/>
        <a:ext cx="5933449" cy="918226"/>
      </dsp:txXfrm>
    </dsp:sp>
    <dsp:sp modelId="{E5AA79CD-3D03-7A44-B52F-B4A511F766A5}">
      <dsp:nvSpPr>
        <dsp:cNvPr id="0" name=""/>
        <dsp:cNvSpPr/>
      </dsp:nvSpPr>
      <dsp:spPr>
        <a:xfrm>
          <a:off x="1603842" y="3332480"/>
          <a:ext cx="7159182" cy="9753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4 - Use </a:t>
          </a:r>
          <a:r>
            <a:rPr lang="en-US" sz="2500" kern="1200" dirty="0" err="1"/>
            <a:t>cor</a:t>
          </a:r>
          <a:r>
            <a:rPr lang="en-US" sz="2500" kern="1200" dirty="0"/>
            <a:t> com </a:t>
          </a:r>
          <a:r>
            <a:rPr lang="en-US" sz="2500" kern="1200" dirty="0" err="1"/>
            <a:t>intenção</a:t>
          </a:r>
          <a:endParaRPr lang="en-US" sz="2500" kern="1200" dirty="0"/>
        </a:p>
      </dsp:txBody>
      <dsp:txXfrm>
        <a:off x="1632409" y="3361047"/>
        <a:ext cx="5933449" cy="918226"/>
      </dsp:txXfrm>
    </dsp:sp>
    <dsp:sp modelId="{859E4D7B-E7BE-BD43-9557-ABADD42D327D}">
      <dsp:nvSpPr>
        <dsp:cNvPr id="0" name=""/>
        <dsp:cNvSpPr/>
      </dsp:nvSpPr>
      <dsp:spPr>
        <a:xfrm>
          <a:off x="2138456" y="4443306"/>
          <a:ext cx="7159182" cy="97536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5 - </a:t>
          </a:r>
          <a:r>
            <a:rPr lang="en-US" sz="2500" kern="1200" dirty="0" err="1"/>
            <a:t>Visualização</a:t>
          </a:r>
          <a:r>
            <a:rPr lang="en-US" sz="2500" kern="1200" dirty="0"/>
            <a:t> </a:t>
          </a:r>
          <a:r>
            <a:rPr lang="en-US" sz="2500" kern="1200" dirty="0" err="1"/>
            <a:t>é</a:t>
          </a:r>
          <a:r>
            <a:rPr lang="en-US" sz="2500" kern="1200" dirty="0"/>
            <a:t> </a:t>
          </a:r>
          <a:r>
            <a:rPr lang="en-US" sz="2500" kern="1200" dirty="0" err="1"/>
            <a:t>responsabilidade</a:t>
          </a:r>
          <a:endParaRPr lang="en-US" sz="2500" kern="1200" dirty="0"/>
        </a:p>
      </dsp:txBody>
      <dsp:txXfrm>
        <a:off x="2167023" y="4471873"/>
        <a:ext cx="5933449" cy="918226"/>
      </dsp:txXfrm>
    </dsp:sp>
    <dsp:sp modelId="{98E0526D-B2CC-6846-8F07-90D0C3FE4A51}">
      <dsp:nvSpPr>
        <dsp:cNvPr id="0" name=""/>
        <dsp:cNvSpPr/>
      </dsp:nvSpPr>
      <dsp:spPr>
        <a:xfrm>
          <a:off x="6525197" y="712554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667843" y="712554"/>
        <a:ext cx="348692" cy="477073"/>
      </dsp:txXfrm>
    </dsp:sp>
    <dsp:sp modelId="{963ED669-E540-6746-B64B-263F1AEAE154}">
      <dsp:nvSpPr>
        <dsp:cNvPr id="0" name=""/>
        <dsp:cNvSpPr/>
      </dsp:nvSpPr>
      <dsp:spPr>
        <a:xfrm>
          <a:off x="7059812" y="1823381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202458" y="1823381"/>
        <a:ext cx="348692" cy="477073"/>
      </dsp:txXfrm>
    </dsp:sp>
    <dsp:sp modelId="{857174E3-DE85-3942-9A8F-05DFF72FF51A}">
      <dsp:nvSpPr>
        <dsp:cNvPr id="0" name=""/>
        <dsp:cNvSpPr/>
      </dsp:nvSpPr>
      <dsp:spPr>
        <a:xfrm>
          <a:off x="7594426" y="2917952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737072" y="2917952"/>
        <a:ext cx="348692" cy="477073"/>
      </dsp:txXfrm>
    </dsp:sp>
    <dsp:sp modelId="{5B1E3F5D-53CC-F349-A878-A17CA479E6DF}">
      <dsp:nvSpPr>
        <dsp:cNvPr id="0" name=""/>
        <dsp:cNvSpPr/>
      </dsp:nvSpPr>
      <dsp:spPr>
        <a:xfrm>
          <a:off x="8129040" y="4039616"/>
          <a:ext cx="633984" cy="633984"/>
        </a:xfrm>
        <a:prstGeom prst="downArrow">
          <a:avLst>
            <a:gd name="adj1" fmla="val 55000"/>
            <a:gd name="adj2" fmla="val 45000"/>
          </a:avLst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271686" y="4039616"/>
        <a:ext cx="348692" cy="4770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6B1CB7-E2E9-4D4D-83EC-4AADA0BE7AEF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C3CE0A-5901-3540-BDD8-FCCEE9CF67F9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83818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Vocês já ouviram aquela frase clichê “O problema não é você, sou eu.”? </a:t>
            </a:r>
          </a:p>
          <a:p>
            <a:endParaRPr lang="en-BR" dirty="0"/>
          </a:p>
          <a:p>
            <a:r>
              <a:rPr lang="en-BR" dirty="0"/>
              <a:t>Vamos fazer um paralelo…</a:t>
            </a:r>
            <a:br>
              <a:rPr lang="en-BR" dirty="0"/>
            </a:br>
            <a:br>
              <a:rPr lang="en-BR" dirty="0"/>
            </a:br>
            <a:r>
              <a:rPr lang="en-US" dirty="0" err="1"/>
              <a:t>Você</a:t>
            </a:r>
            <a:r>
              <a:rPr lang="en-US" dirty="0"/>
              <a:t> </a:t>
            </a:r>
            <a:r>
              <a:rPr lang="en-US" dirty="0" err="1"/>
              <a:t>já</a:t>
            </a:r>
            <a:r>
              <a:rPr lang="en-US" dirty="0"/>
              <a:t> </a:t>
            </a:r>
            <a:r>
              <a:rPr lang="en-US" dirty="0" err="1"/>
              <a:t>abriu</a:t>
            </a:r>
            <a:r>
              <a:rPr lang="en-US" dirty="0"/>
              <a:t> um </a:t>
            </a:r>
            <a:r>
              <a:rPr lang="en-US" dirty="0" err="1"/>
              <a:t>relatório</a:t>
            </a:r>
            <a:r>
              <a:rPr lang="en-US" dirty="0"/>
              <a:t> e </a:t>
            </a:r>
            <a:r>
              <a:rPr lang="en-US" dirty="0" err="1"/>
              <a:t>pensou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“Caramba,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estou</a:t>
            </a:r>
            <a:r>
              <a:rPr lang="en-US" dirty="0"/>
              <a:t> </a:t>
            </a:r>
            <a:r>
              <a:rPr lang="en-US" dirty="0" err="1"/>
              <a:t>entendendo</a:t>
            </a:r>
            <a:r>
              <a:rPr lang="en-US" dirty="0"/>
              <a:t> nada!”</a:t>
            </a:r>
          </a:p>
          <a:p>
            <a:endParaRPr lang="en-US" dirty="0"/>
          </a:p>
          <a:p>
            <a:r>
              <a:rPr lang="en-BR" dirty="0"/>
              <a:t>Então…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Não é você. É o gráfico.</a:t>
            </a:r>
          </a:p>
          <a:p>
            <a:r>
              <a:rPr lang="en-BR" dirty="0"/>
              <a:t>Porque… apresentar dados não é o mesmo que contar a história deles.</a:t>
            </a:r>
          </a:p>
          <a:p>
            <a:endParaRPr lang="en-BR" dirty="0"/>
          </a:p>
          <a:p>
            <a:r>
              <a:rPr lang="en-BR" dirty="0"/>
              <a:t>&lt;pausa&gt;</a:t>
            </a:r>
          </a:p>
          <a:p>
            <a:endParaRPr lang="en-BR" dirty="0"/>
          </a:p>
          <a:p>
            <a:r>
              <a:rPr lang="en-BR" dirty="0"/>
              <a:t>Hoje, a gente vai terminar alguns relacionamentos tóxicos… com gráficos.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6968963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PROVOCAÇÃO</a:t>
            </a:r>
          </a:p>
          <a:p>
            <a:endParaRPr lang="en-BR" dirty="0"/>
          </a:p>
          <a:p>
            <a:r>
              <a:rPr lang="en-BR" dirty="0"/>
              <a:t>Olhando, do nada, este gráfico…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você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entende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segundos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mensagem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olhar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primeiro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endParaRPr lang="en-BR" dirty="0"/>
          </a:p>
          <a:p>
            <a:r>
              <a:rPr lang="en-BR" dirty="0"/>
              <a:t>Quem quiser e puder, coloca a resposta no chat.</a:t>
            </a:r>
          </a:p>
          <a:p>
            <a:endParaRPr lang="en-BR" dirty="0"/>
          </a:p>
          <a:p>
            <a:r>
              <a:rPr lang="en-BR" dirty="0"/>
              <a:t>DISCLAIMER: Sei que estamos em ano de eleição e tudo mais, mas estamos aqui para falar de dados e apresentação deles. Esse estudo, eu fiz há 2 anos – não sei quem era o governador do Ceará naquela época, e continuo não sabendo. Então isso aqui não é sobre política. É apenas sobre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3325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Vamos lá…</a:t>
            </a:r>
          </a:p>
          <a:p>
            <a:endParaRPr lang="en-BR" dirty="0"/>
          </a:p>
          <a:p>
            <a:r>
              <a:rPr lang="en-BR" dirty="0"/>
              <a:t>Apresentar dados …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US" dirty="0"/>
              <a:t>… n</a:t>
            </a:r>
            <a:r>
              <a:rPr lang="en-BR" dirty="0"/>
              <a:t>ão é o mesmo que contar a história dos dados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E algo importante para pensar, refletir quando estamos falando de dados: se tudo é importante, nada é importante!</a:t>
            </a:r>
          </a:p>
          <a:p>
            <a:endParaRPr lang="en-BR" dirty="0"/>
          </a:p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249590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&lt;Abrir perguntas – chat ou verbal&gt;</a:t>
            </a:r>
          </a:p>
          <a:p>
            <a:endParaRPr lang="en-BR" dirty="0"/>
          </a:p>
          <a:p>
            <a:r>
              <a:rPr lang="en-BR" dirty="0"/>
              <a:t>Exemplos de categorias:</a:t>
            </a:r>
          </a:p>
          <a:p>
            <a:pPr marL="171450" indent="-171450">
              <a:buFontTx/>
              <a:buChar char="-"/>
            </a:pPr>
            <a:r>
              <a:rPr lang="en-BR" dirty="0"/>
              <a:t>Excesso</a:t>
            </a:r>
          </a:p>
          <a:p>
            <a:pPr marL="171450" indent="-171450">
              <a:buFontTx/>
              <a:buChar char="-"/>
            </a:pPr>
            <a:r>
              <a:rPr lang="en-BR" dirty="0"/>
              <a:t>Falta de Contexto</a:t>
            </a:r>
          </a:p>
          <a:p>
            <a:pPr marL="171450" indent="-171450">
              <a:buFontTx/>
              <a:buChar char="-"/>
            </a:pPr>
            <a:r>
              <a:rPr lang="en-BR" dirty="0"/>
              <a:t>Hierarquia visual ruim</a:t>
            </a:r>
          </a:p>
          <a:p>
            <a:pPr marL="171450" indent="-171450">
              <a:buFontTx/>
              <a:buChar char="-"/>
            </a:pPr>
            <a:r>
              <a:rPr lang="en-BR" dirty="0"/>
              <a:t>Mensagem indefinida</a:t>
            </a:r>
          </a:p>
          <a:p>
            <a:pPr marL="0" indent="0">
              <a:buFontTx/>
              <a:buNone/>
            </a:pPr>
            <a:endParaRPr lang="en-BR" dirty="0"/>
          </a:p>
          <a:p>
            <a:pPr marL="0" indent="0">
              <a:buFontTx/>
              <a:buNone/>
            </a:pPr>
            <a:r>
              <a:rPr lang="en-BR" dirty="0"/>
              <a:t>&lt;TOMAR NOTAS NO SLIDE&gt;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95897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Vamos ver alguns exemplos de antes e depois</a:t>
            </a:r>
          </a:p>
          <a:p>
            <a:endParaRPr lang="en-BR" dirty="0"/>
          </a:p>
          <a:p>
            <a:r>
              <a:rPr lang="en-BR" dirty="0"/>
              <a:t>DISCLAIMER: Não sou torço pelo Flamengo – sou Corinthiana! E vou parar por aqui. &lt;risinhos&gt;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Esse gráfico foi publicado no G1 / Globo.com em Junho de 2023. </a:t>
            </a:r>
          </a:p>
          <a:p>
            <a:endParaRPr lang="en-BR" dirty="0"/>
          </a:p>
          <a:p>
            <a:r>
              <a:rPr lang="en-BR" dirty="0"/>
              <a:t>O que vocês acham dela? Que informação ela passa?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E agora? Melhorou?</a:t>
            </a:r>
          </a:p>
          <a:p>
            <a:endParaRPr lang="en-BR" dirty="0"/>
          </a:p>
          <a:p>
            <a:r>
              <a:rPr lang="en-BR" dirty="0"/>
              <a:t>Algumas decisões chave:</a:t>
            </a:r>
          </a:p>
          <a:p>
            <a:pPr marL="171450" indent="-171450">
              <a:buFontTx/>
              <a:buChar char="-"/>
            </a:pPr>
            <a:r>
              <a:rPr lang="en-BR" dirty="0"/>
              <a:t>Objetivo claro: Dizer que 5 jogadores marcaram 80% dos 501 gols do Flamengo</a:t>
            </a:r>
          </a:p>
          <a:p>
            <a:pPr marL="171450" indent="-171450">
              <a:buFontTx/>
              <a:buChar char="-"/>
            </a:pPr>
            <a:r>
              <a:rPr lang="en-BR" dirty="0"/>
              <a:t>Objetivo secundário: Ressaltar os 2 principais jogadores e suas marcas pessoais</a:t>
            </a:r>
          </a:p>
          <a:p>
            <a:pPr marL="171450" indent="-171450">
              <a:buFontTx/>
              <a:buChar char="-"/>
            </a:pPr>
            <a:r>
              <a:rPr lang="en-BR" dirty="0"/>
              <a:t>Mudança do gráfico</a:t>
            </a:r>
          </a:p>
          <a:p>
            <a:pPr marL="171450" indent="-171450">
              <a:buFontTx/>
              <a:buChar char="-"/>
            </a:pPr>
            <a:r>
              <a:rPr lang="en-BR" dirty="0"/>
              <a:t>FATO INTERESSANTE: A ideia no primeiro gráfico era usar as cores preto e vemelho do Flamengo. Mas ao usar o gráfico de pizza, acabou colcando diversas outras cores. A autora do 2o gráfico/apresentação, manteve essa ideia, e conseguiu SÓ usar as cores do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25540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Este é outro exemplo. Vi esse slide em uma apresentação sobre skills Estratégicos e em demanda.</a:t>
            </a:r>
          </a:p>
          <a:p>
            <a:endParaRPr lang="en-BR" dirty="0"/>
          </a:p>
          <a:p>
            <a:r>
              <a:rPr lang="en-BR" dirty="0"/>
              <a:t>Antes de continuar… o que vocês acham dele?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55887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Estes são os mesmos dados, mas outra apresentação – o “DEPOIS”.</a:t>
            </a:r>
          </a:p>
          <a:p>
            <a:endParaRPr lang="en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dirty="0"/>
              <a:t>Neste exemplo, eu não tinha os dados originais, então eu pedi ao ChatGPT para criar uma massa de dados para mim, e criei esses gráficos… e depois, criei minha releitura</a:t>
            </a:r>
          </a:p>
          <a:p>
            <a:endParaRPr lang="en-BR" dirty="0"/>
          </a:p>
          <a:p>
            <a:r>
              <a:rPr lang="en-BR" dirty="0"/>
              <a:t>O que vocês acharam da releitura?</a:t>
            </a:r>
          </a:p>
          <a:p>
            <a:endParaRPr lang="en-BR" dirty="0"/>
          </a:p>
          <a:p>
            <a:r>
              <a:rPr lang="en-BR" dirty="0"/>
              <a:t>Deixa eu colocar lado-a-lado para vocês compararem…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63994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72E3C-3B40-8006-38E2-B5758DDCC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AF3F7-95C5-4259-420E-62DCAA8F14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E203F-F963-22C2-13BA-2DCDE86DF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E aí? Só não ser gráfico de pizza, em 3d já ajuda muito… Mas tem muito mais – como disposição das informações, clareza, limpeza…</a:t>
            </a:r>
          </a:p>
          <a:p>
            <a:endParaRPr lang="en-BR" dirty="0"/>
          </a:p>
          <a:p>
            <a:r>
              <a:rPr lang="en-BR" dirty="0"/>
              <a:t>Não vou detalhar muito este, para não passar muito tempo - pois ainda tem coisa legal para vermos.</a:t>
            </a:r>
          </a:p>
          <a:p>
            <a:r>
              <a:rPr lang="en-BR" dirty="0"/>
              <a:t>Mas no meu blog AW TechBits, tem um post sobre esse processo de Antes e Depois - vou compartilhar com vocês…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48E40-B25C-61D9-43DA-E675743F62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753671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883AD-D40E-D8A4-FEE4-4A055878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DB542-961C-0DE3-0707-7E7E48F229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C59A3A-582C-2B46-A2FA-9396C80B38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Agora vamos arregaçar as mangas.</a:t>
            </a:r>
          </a:p>
          <a:p>
            <a:endParaRPr lang="pt-BR" dirty="0"/>
          </a:p>
          <a:p>
            <a:r>
              <a:rPr lang="pt-BR" dirty="0"/>
              <a:t>&lt;CLICK&gt;</a:t>
            </a:r>
          </a:p>
          <a:p>
            <a:endParaRPr lang="en-BR" dirty="0"/>
          </a:p>
          <a:p>
            <a:r>
              <a:rPr lang="en-BR" dirty="0"/>
              <a:t>Vocês lembram deste gráfico lá do começo?</a:t>
            </a:r>
          </a:p>
          <a:p>
            <a:endParaRPr lang="en-BR" dirty="0"/>
          </a:p>
          <a:p>
            <a:r>
              <a:rPr lang="en-BR" dirty="0"/>
              <a:t>A primeira vez que eu o vi também foi em um post da Prof. Fernanda Maciel no LinkedIn. Depois, fui procurar a fonte, e achei um muito parecido no site da Secretaria de Educação do Ceará, em um artigo de 28 de maio de 2024.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sz="1200" dirty="0"/>
              <a:t>Qual seria a pergunta que esse gráfico responde? </a:t>
            </a:r>
          </a:p>
          <a:p>
            <a:r>
              <a:rPr lang="en-BR" sz="1200" dirty="0"/>
              <a:t>Que informação ele quer passar?</a:t>
            </a:r>
          </a:p>
          <a:p>
            <a:endParaRPr lang="en-BR" sz="1200" dirty="0"/>
          </a:p>
          <a:p>
            <a:r>
              <a:rPr lang="en-BR" sz="1200" dirty="0"/>
              <a:t>Note: não estou perguntando dos problemas dele – apenas a mensagem que ele quer passar, a pergunta que ele quer responder.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61EC7-98AC-94D4-B2FD-BA47CE252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87760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38B8B-F1CF-19DD-6A5C-7B46DE62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F6B3D-2DD4-D4D6-25E7-21DD80356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975F0-0A50-0129-E808-B0C2DCFF3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primeiro entender a mensagem que (achamos) este gráfico quer passar.</a:t>
            </a:r>
          </a:p>
          <a:p>
            <a:endParaRPr lang="pt-BR" dirty="0"/>
          </a:p>
          <a:p>
            <a:r>
              <a:rPr lang="pt-BR" dirty="0"/>
              <a:t>1 – Qual o foco.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pt-BR" dirty="0">
                <a:sym typeface="Wingdings" pitchFamily="2" charset="2"/>
              </a:rPr>
              <a:t>Pelo logo do Estado do Ceará lá no topo, e olhando os números, quer mostrar que o Ceará tá se saindo bem nesse programa</a:t>
            </a:r>
          </a:p>
          <a:p>
            <a:pPr marL="171450" indent="-171450">
              <a:buFont typeface="Wingdings" pitchFamily="2" charset="2"/>
              <a:buChar char="à"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r>
              <a:rPr lang="pt-BR" dirty="0">
                <a:sym typeface="Wingdings" pitchFamily="2" charset="2"/>
              </a:rPr>
              <a:t>Se o foco é o Estado do Ceará, por que temos dados de todos os outros estados?</a:t>
            </a: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r>
              <a:rPr lang="pt-BR" dirty="0">
                <a:sym typeface="Wingdings" pitchFamily="2" charset="2"/>
              </a:rPr>
              <a:t>&lt;CLICK&gt;</a:t>
            </a: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r>
              <a:rPr lang="pt-BR" dirty="0">
                <a:sym typeface="Wingdings" pitchFamily="2" charset="2"/>
              </a:rPr>
              <a:t>Legal, mas o que é esse programa?</a:t>
            </a: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r>
              <a:rPr lang="pt-BR" dirty="0">
                <a:sym typeface="Wingdings" pitchFamily="2" charset="2"/>
              </a:rPr>
              <a:t>2 – Sobre o que é esse gráfico? </a:t>
            </a:r>
          </a:p>
          <a:p>
            <a:pPr marL="0" indent="0">
              <a:buFont typeface="Wingdings" pitchFamily="2" charset="2"/>
              <a:buNone/>
            </a:pPr>
            <a:r>
              <a:rPr lang="pt-BR" dirty="0">
                <a:sym typeface="Wingdings" pitchFamily="2" charset="2"/>
              </a:rPr>
              <a:t>Alguém conhece esse programa “Compromisso Nacional Criança Alfabetizada”?</a:t>
            </a: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endParaRPr lang="pt-BR" dirty="0">
              <a:sym typeface="Wingdings" pitchFamily="2" charset="2"/>
            </a:endParaRPr>
          </a:p>
          <a:p>
            <a:pPr marL="0" indent="0">
              <a:buFont typeface="Wingdings" pitchFamily="2" charset="2"/>
              <a:buNone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97394-A928-4346-413C-8D771080BF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128898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Mas sendo sincera, a primeira coisa que me incomodou foram as cores.</a:t>
            </a:r>
          </a:p>
          <a:p>
            <a:endParaRPr lang="en-BR" dirty="0"/>
          </a:p>
          <a:p>
            <a:r>
              <a:rPr lang="en-BR" dirty="0"/>
              <a:t>O que me veio à cabeça:</a:t>
            </a:r>
          </a:p>
          <a:p>
            <a:endParaRPr lang="en-BR" dirty="0"/>
          </a:p>
          <a:p>
            <a:r>
              <a:rPr lang="en-BR" sz="1200" dirty="0"/>
              <a:t>Olhando este mapa, sem ler nada, qual estado que “salta” aos olhos?</a:t>
            </a:r>
          </a:p>
          <a:p>
            <a:r>
              <a:rPr lang="en-BR" sz="1200" dirty="0">
                <a:sym typeface="Wingdings" pitchFamily="2" charset="2"/>
              </a:rPr>
              <a:t> </a:t>
            </a:r>
            <a:r>
              <a:rPr lang="en-BR" sz="1200" dirty="0"/>
              <a:t>Bahia</a:t>
            </a:r>
          </a:p>
          <a:p>
            <a:endParaRPr lang="en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sz="1200" dirty="0"/>
              <a:t>Onde foi parar Roraima e Acre?</a:t>
            </a:r>
          </a:p>
          <a:p>
            <a:pPr marL="171450" indent="-171450">
              <a:buFont typeface="Wingdings" pitchFamily="2" charset="2"/>
              <a:buChar char="à"/>
            </a:pPr>
            <a:r>
              <a:rPr lang="en-BR" dirty="0">
                <a:sym typeface="Wingdings" pitchFamily="2" charset="2"/>
              </a:rPr>
              <a:t>A cor branca fica quase imperceptível contra o fundo cinza.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BR" sz="1200" dirty="0"/>
              <a:t>Pará, Tocantins e Mato Grosso do Sul não tem dados, é isso?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BR" sz="1200" dirty="0"/>
              <a:t>SP, MG e RJ, assim como AM e MT (e outros estados do NE) viraram grandes blocos vermelhos.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BR" sz="1200" dirty="0"/>
              <a:t>Como um daltônico enxerga isso?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BR" sz="1200" dirty="0"/>
              <a:t>Alguém aqui é daltônico?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BR" sz="1200" i="0" dirty="0"/>
              <a:t>&lt;Se tiver, abrir espaço para comentar&gt;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i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BR" sz="1200" i="0" dirty="0"/>
              <a:t>&lt;DEMONSTRAÇÃO COBLIS&gt;</a:t>
            </a:r>
            <a:endParaRPr lang="en-BR" sz="1200" i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lang="en-BR" sz="1200" dirty="0"/>
          </a:p>
          <a:p>
            <a:pPr marL="0" indent="0">
              <a:buFont typeface="Wingdings" pitchFamily="2" charset="2"/>
              <a:buNone/>
            </a:pPr>
            <a:endParaRPr lang="en-BR" dirty="0"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96556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Vamos dar uma roupagem nova para este mapa…</a:t>
            </a:r>
          </a:p>
          <a:p>
            <a:endParaRPr lang="en-BR" dirty="0"/>
          </a:p>
          <a:p>
            <a:r>
              <a:rPr lang="en-BR" dirty="0"/>
              <a:t>Aqui está nosso mapa original, sem as demais informações – só o Brasil.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Vamos lá agora para o Google Colab.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&lt; DEMONSTRAÇÃO GOOGLE COLAB&gt;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Comparando o antes e depois, só o mapa… já tem uma melhora visível, certo?</a:t>
            </a:r>
          </a:p>
          <a:p>
            <a:endParaRPr lang="en-BR" dirty="0"/>
          </a:p>
          <a:p>
            <a:r>
              <a:rPr lang="en-BR" dirty="0"/>
              <a:t>E, como fica isso no Coblis?</a:t>
            </a:r>
          </a:p>
          <a:p>
            <a:endParaRPr lang="en-BR" dirty="0"/>
          </a:p>
          <a:p>
            <a:r>
              <a:rPr lang="en-BR" dirty="0"/>
              <a:t>&lt;DEMONSTRAÇÃO COBLIS&gt;</a:t>
            </a:r>
          </a:p>
          <a:p>
            <a:endParaRPr lang="en-BR" dirty="0"/>
          </a:p>
          <a:p>
            <a:endParaRPr lang="en-BR" dirty="0"/>
          </a:p>
          <a:p>
            <a:endParaRPr lang="en-BR" dirty="0"/>
          </a:p>
          <a:p>
            <a:r>
              <a:rPr lang="en-BR" dirty="0"/>
              <a:t>Mostrar no Excel também</a:t>
            </a:r>
          </a:p>
          <a:p>
            <a:endParaRPr lang="en-BR" dirty="0"/>
          </a:p>
          <a:p>
            <a:r>
              <a:rPr lang="en-BR" dirty="0"/>
              <a:t>Caso haja pergunta sobre Power BI (ou outras tools), devolver a pergunta: “pq vc acha que devo usar essa ferramenta?”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550957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voltar para nosso mapa de roupa nova, </a:t>
            </a:r>
          </a:p>
          <a:p>
            <a:endParaRPr lang="pt-BR" dirty="0"/>
          </a:p>
          <a:p>
            <a:r>
              <a:rPr lang="pt-BR" dirty="0"/>
              <a:t>&lt;CLICK&gt;</a:t>
            </a:r>
          </a:p>
          <a:p>
            <a:endParaRPr lang="pt-BR" dirty="0"/>
          </a:p>
          <a:p>
            <a:r>
              <a:rPr lang="pt-BR" dirty="0"/>
              <a:t>e adicionar as informações essenciais.</a:t>
            </a:r>
          </a:p>
          <a:p>
            <a:endParaRPr lang="pt-BR" dirty="0"/>
          </a:p>
          <a:p>
            <a:r>
              <a:rPr lang="pt-BR" dirty="0"/>
              <a:t>&lt;CLICK&gt;</a:t>
            </a:r>
          </a:p>
          <a:p>
            <a:endParaRPr lang="pt-BR" dirty="0"/>
          </a:p>
          <a:p>
            <a:r>
              <a:rPr lang="pt-BR" dirty="0"/>
              <a:t>Uma legenda para explicar as cores...</a:t>
            </a:r>
          </a:p>
          <a:p>
            <a:endParaRPr lang="pt-BR" dirty="0"/>
          </a:p>
          <a:p>
            <a:r>
              <a:rPr lang="pt-BR" dirty="0"/>
              <a:t>&lt;CLICK&gt;</a:t>
            </a:r>
          </a:p>
          <a:p>
            <a:endParaRPr lang="pt-BR" dirty="0"/>
          </a:p>
          <a:p>
            <a:r>
              <a:rPr lang="pt-BR" dirty="0"/>
              <a:t>Qual era o foco? O estado do Ceará.  Então, vamos marcar o estado do Ceará (para algum desavisado que faltou às aulas de Geografia), e colocar o Logo também (afinal, estamos tentando melhorar o gráfico original, e ele era um gráfico da Secretaria da Educação do Governo do Ceará</a:t>
            </a:r>
          </a:p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222323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Agora, qual a mensagem o gráfico quer passar?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A mensage é “Com 85% de crianças alfebetizadas na idade certa, Ceará lidera ranking nacional.  E a Média Nacional é de 56% crianças alfabetizadas na idade certa.</a:t>
            </a:r>
          </a:p>
          <a:p>
            <a:endParaRPr lang="en-BR" dirty="0"/>
          </a:p>
          <a:p>
            <a:r>
              <a:rPr lang="en-BR" dirty="0"/>
              <a:t>Pronto! Isso fechou o mapa, certo?</a:t>
            </a:r>
          </a:p>
          <a:p>
            <a:endParaRPr lang="en-BR" dirty="0"/>
          </a:p>
          <a:p>
            <a:r>
              <a:rPr lang="en-BR" dirty="0"/>
              <a:t>&lt;PAUSA&gt;</a:t>
            </a:r>
          </a:p>
          <a:p>
            <a:endParaRPr lang="en-BR" dirty="0"/>
          </a:p>
          <a:p>
            <a:r>
              <a:rPr lang="en-BR" dirty="0"/>
              <a:t>&lt;Próximo Slide&gt;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836425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Não.  Ainda falta incluir a fonte da informação.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Aqui sim, mencionamos o programa, a data e a origem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363667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Então, no nosso makeover…</a:t>
            </a:r>
            <a:br>
              <a:rPr lang="en-BR" dirty="0"/>
            </a:br>
            <a:r>
              <a:rPr lang="en-BR" dirty="0"/>
              <a:t>- Definição do foco e mensagem</a:t>
            </a:r>
          </a:p>
          <a:p>
            <a:pPr marL="171450" indent="-171450">
              <a:buFontTx/>
              <a:buChar char="-"/>
            </a:pPr>
            <a:r>
              <a:rPr lang="en-BR" dirty="0"/>
              <a:t>Redução de informações desnecessárias</a:t>
            </a:r>
          </a:p>
          <a:p>
            <a:pPr marL="171450" indent="-171450">
              <a:buFontTx/>
              <a:buChar char="-"/>
            </a:pPr>
            <a:r>
              <a:rPr lang="en-BR" dirty="0"/>
              <a:t>Revisão das cores, para melhorar clareza, foco e acessibilidade.</a:t>
            </a:r>
          </a:p>
          <a:p>
            <a:pPr marL="0" indent="0">
              <a:buFontTx/>
              <a:buNone/>
            </a:pPr>
            <a:endParaRPr lang="en-BR" dirty="0"/>
          </a:p>
          <a:p>
            <a:pPr marL="0" indent="0">
              <a:buFontTx/>
              <a:buNone/>
            </a:pPr>
            <a:r>
              <a:rPr lang="en-BR" dirty="0"/>
              <a:t>&lt;CLICK&gt;</a:t>
            </a:r>
          </a:p>
          <a:p>
            <a:pPr marL="0" indent="0">
              <a:buFontTx/>
              <a:buNone/>
            </a:pPr>
            <a:endParaRPr lang="en-BR" dirty="0"/>
          </a:p>
          <a:p>
            <a:pPr marL="0" indent="0">
              <a:buFontTx/>
              <a:buNone/>
            </a:pPr>
            <a:r>
              <a:rPr lang="en-BR" dirty="0"/>
              <a:t>Agora, o olhar não fica mais brigando com a imagem… Ele percorre ela…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16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69131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Onde seu olhar vai agora?</a:t>
            </a:r>
          </a:p>
          <a:p>
            <a:r>
              <a:rPr lang="en-BR" dirty="0"/>
              <a:t>O que você entende em 5 segundos?</a:t>
            </a:r>
          </a:p>
          <a:p>
            <a:r>
              <a:rPr lang="en-BR" dirty="0"/>
              <a:t>E o esforço cognitivo para entender… diminuiu?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17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80559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9A660-B2D3-86F7-5AD0-9605D9A2A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8148A0-8897-75C8-4A29-F48DEBFD6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4143A-0D1E-E1A2-9961-5D0B577AF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Indo para a conclusão…</a:t>
            </a:r>
          </a:p>
          <a:p>
            <a:endParaRPr lang="en-BR" dirty="0"/>
          </a:p>
          <a:p>
            <a:r>
              <a:rPr lang="en-BR" dirty="0"/>
              <a:t>Um resumo do makeover em 5 passos: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r>
              <a:rPr lang="en-BR" dirty="0"/>
              <a:t>1 - Comece pela pergunta. Olhe para os dados, e pergunte o que eles estão te dizendo.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r>
              <a:rPr lang="en-BR" dirty="0"/>
              <a:t>2 – Uma vez que você entendeu o que os dados, defina o foco, qual a mensagem que você quer passar deles </a:t>
            </a:r>
          </a:p>
          <a:p>
            <a:pPr marL="0" indent="0">
              <a:buNone/>
            </a:pPr>
            <a:r>
              <a:rPr lang="en-BR" dirty="0"/>
              <a:t>Lembre-se: Se tudo é importante, nada é importante.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r>
              <a:rPr lang="en-BR" dirty="0"/>
              <a:t>3 – Não tente colocar tudo em um único gráfico. Menos é mais. 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r>
              <a:rPr lang="en-BR" dirty="0"/>
              <a:t>4 – Use cor com intenção. Clareza, Direcionamento do fogo, Acessibilidade. 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r>
              <a:rPr lang="en-BR" dirty="0"/>
              <a:t>E lembre-se: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r>
              <a:rPr lang="en-BR" dirty="0"/>
              <a:t>5 – Visualização é reponsabilidade: Você é a pessoa que está com a responsabildiade de, tendo entendido os dados, identificar a mensagem principal que eles querem passar e transmitir essa mensagem de maneira clara e simples.</a:t>
            </a:r>
          </a:p>
          <a:p>
            <a:pPr marL="0" indent="0">
              <a:buNone/>
            </a:pPr>
            <a:endParaRPr lang="en-BR" dirty="0"/>
          </a:p>
          <a:p>
            <a:pPr marL="0" indent="0">
              <a:buNone/>
            </a:pPr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E70FD-1582-6B81-C0A0-00A86D973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18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96880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Agora, vou deixar “lição de casa”, ou, falando de forma mais elegante, vou fazer um Call2Action.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Procure um gráfico confuso – pode ser seu ou não, da internet ou do seu trabalho (se for do trabalho, cuidado com informação confidencial!!).</a:t>
            </a:r>
          </a:p>
          <a:p>
            <a:endParaRPr lang="en-BR" dirty="0"/>
          </a:p>
          <a:p>
            <a:r>
              <a:rPr lang="en-BR" dirty="0"/>
              <a:t>Faça um makeover neste gráfico.</a:t>
            </a:r>
          </a:p>
          <a:p>
            <a:endParaRPr lang="en-BR" dirty="0"/>
          </a:p>
          <a:p>
            <a:r>
              <a:rPr lang="en-BR" dirty="0"/>
              <a:t>Quando acabar, posta lá na Comunidade do TDC (Pode ser no canal Dados e IA, certo André?), e comente nas postagens dos outros…. </a:t>
            </a:r>
            <a:br>
              <a:rPr lang="en-BR" dirty="0"/>
            </a:br>
            <a:br>
              <a:rPr lang="en-BR" dirty="0"/>
            </a:br>
            <a:r>
              <a:rPr lang="en-BR" dirty="0"/>
              <a:t>Vamos crescer juntos lá e crescer nossa comunidade.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19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3756243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1CF2D-667B-E882-D1B3-442BCF7D8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89716-AA10-BB07-23CC-16599D27A9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0BA2C-9901-D89C-1310-7C006019A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BR" dirty="0"/>
              <a:t>Então…. Como falei lá no comecinho…</a:t>
            </a:r>
            <a:br>
              <a:rPr lang="en-BR" dirty="0"/>
            </a:br>
            <a:br>
              <a:rPr lang="en-BR" dirty="0"/>
            </a:br>
            <a:r>
              <a:rPr lang="en-BR" dirty="0"/>
              <a:t>&lt;CLICK&gt;</a:t>
            </a:r>
          </a:p>
          <a:p>
            <a:br>
              <a:rPr lang="en-BR" dirty="0"/>
            </a:br>
            <a:r>
              <a:rPr lang="en-BR" dirty="0"/>
              <a:t>O problema não é você – é o gráfico.</a:t>
            </a:r>
          </a:p>
          <a:p>
            <a:endParaRPr lang="en-BR" dirty="0"/>
          </a:p>
          <a:p>
            <a:r>
              <a:rPr lang="en-BR" dirty="0"/>
              <a:t>&lt;CLICK&gt;</a:t>
            </a:r>
          </a:p>
          <a:p>
            <a:endParaRPr lang="en-BR" dirty="0"/>
          </a:p>
          <a:p>
            <a:r>
              <a:rPr lang="en-BR" dirty="0"/>
              <a:t>Mas agora você sabe como consertar.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7D3C0-3773-6AEA-2CCA-0E84839C0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20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766265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98527-C58F-6423-89A0-F510FEE95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41999-D34C-6843-66E7-7DC28CC4D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6F8EE-4E0E-3546-4F8E-3DD88D712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571D3-7B82-4814-759D-BB41A1397F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21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547975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comunidade.thedevconf.com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/u/9f6909f7</a:t>
            </a:r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3CE0A-5901-3540-BDD8-FCCEE9CF67F9}" type="slidenum">
              <a:rPr lang="en-BR" smtClean="0"/>
              <a:t>22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599887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EFD59-1367-14A0-872E-006A9A01E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444C4-CABF-3510-EBE1-5ECD6C48B9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1154F3-EE31-24AB-1D5D-90FE7E2B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4B08A-F788-7B70-7FEA-DAD6DBC9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5B427-0B2F-DF11-2316-CD4D2D416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12500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0CD58-9D27-3107-95C0-CCBD7872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A36D-B113-9964-4F38-6025379281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A5CEB-D230-3D7F-2BDD-9A0023424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6F8BE-B77E-4973-7475-AF6894CE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02D22-67C6-932E-F76D-5A3BD1894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43154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97351-E46B-BEF8-B4F1-B89E5F92F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E21A0-BF5A-D16F-2844-02C51992D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78317-0ACE-FAEA-E38F-BA3BCC2B1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9F686-0209-C6D7-5962-329BA793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A08-BD16-9861-8DC5-134DEB675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5182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4BB45-DF55-949C-2839-14B187BF3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C6652-6B31-3C1B-EFD0-DA87E3DC7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45594-A4EA-2692-E69B-06EDB80A58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C435F-AED9-6A1F-4224-1453CD444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5537E-BC80-A3ED-1467-A06228C0B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F70DF1-8AD5-58C1-EAC8-0A00831F1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93522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BF54A-F4B9-6307-A7AA-C6CF21EE4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375F6-D6A7-67C4-0265-9226F8455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5704B-01E2-3189-0BD5-6E0056A6D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D23159-AED6-433C-FC7E-0758EBA954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29155A-4BD5-1409-9B86-3B536B9F41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9B3A03-00F9-ADE1-4334-EEDD9F96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C4CF5-18BB-3503-BC54-0CC88D4D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0352D4-E71B-500A-E0D6-2E456D0A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60420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7D67-B221-141F-5B1E-74588C53D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18344-B538-42C9-CF81-CF3764D2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8E49D2-3E57-2CE7-406D-16305134B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FC2DC-585C-0D89-5666-22583B3C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8092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802150-97DB-DEF7-9A2D-957762E56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FAB449-D71D-8441-B5F3-64CF50F3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CD3C-1269-A82A-CF57-52A008FD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1254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E0AE-A0FC-8BBC-60ED-9D6861199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197AF-52F5-7B96-9FBD-19A063A9B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B410B-A618-C674-2DAB-BC20BC9AA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0E43B8-C900-C862-2A7D-25EFFE81D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D64D3-11EB-826B-BFA0-CA731140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2140F5-39F6-1349-3298-042468368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8374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6667A-3F5F-77B3-3E2E-6BE32BB81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32F8DC-2195-A24A-D219-D9736BDD94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57536-4554-66A6-70A7-69AFAFED0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815F5-CAAD-4647-23A3-022E24DA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17567-FFC3-70A9-F053-FC06692CD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E8DCE-9BA2-82A7-F5B6-D8302D08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45722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1FC1-AE37-367A-ED16-3F7D8DF3B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9049C-4715-CAA4-1127-46D7FDE17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BFB68-490A-0845-1F67-A119C4386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FADF5-6254-96C5-5995-3A7121F75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81EC8-A145-0C25-5755-8E4CC57F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136352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E86320-174F-8AB6-AC1D-7076D77B29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09F74-5C0B-4BE7-A27E-7DC30CA626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EAE5B-C580-481E-7B74-3D6720032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E2278-C604-2ADB-3F76-66ADF4E0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A5899-BE20-B9DE-533D-8675FEA2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33686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E4CB9-3EF2-9095-DA5D-8239462B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00440-1BDA-4B90-5322-62420A60A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C8E50E-A558-F4FC-DAB9-BC90401250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4CAD4-0319-A84F-B9AD-DD920312C52B}" type="datetimeFigureOut">
              <a:rPr lang="en-BR" smtClean="0"/>
              <a:t>11/03/26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68D9B-1AB7-1EDE-DE1A-749D1478FE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FF731-6BA2-BEE1-4A60-D44D31E324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2B43BE-DA9B-914F-9283-3FAC2376F900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67690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hyperlink" Target="https://www.storytellingwithdata.com/makeover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posts/proffernandamaciel_estatistica-analisededados-visualizaaexaeto-activity-7074780694576582657-kUrR?utm_source=share&amp;utm_medium=member_desktop" TargetMode="External"/><Relationship Id="rId5" Type="http://schemas.openxmlformats.org/officeDocument/2006/relationships/hyperlink" Target="https://ge.globo.com/futebol/times/flamengo/noticia/2023/06/09/elenco-atual-do-flamengo-passa-dos-500-gols-pelo-clube-veja-numeros-dos-times-da-serie-a.ghtml" TargetMode="Externa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w-techbits.blogspot.com/2025/04/visualizando-hardskills-uma-proposta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color-blindness.com/coblis-color-blindness-simulator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hyperlink" Target="https://github.com/adrianaweingart/AWTechBits/tree/Post-A-m%C3%A1gica-por-tr%C3%A1s-da-image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hyperlink" Target="https://www.storytellingwithdata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F022-6208-2BF4-628F-A4ABA0BBF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R" dirty="0"/>
              <a:t>Não é você. É o gráfico.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D6F23C-49DD-2AD4-4F0D-548CB29D6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417" y="3509963"/>
            <a:ext cx="11728174" cy="1655762"/>
          </a:xfrm>
        </p:spPr>
        <p:txBody>
          <a:bodyPr>
            <a:normAutofit/>
          </a:bodyPr>
          <a:lstStyle/>
          <a:p>
            <a:r>
              <a:rPr lang="en-BR" sz="2800" dirty="0"/>
              <a:t>Porque apresentar dados não é o mesmo que contar a história deles.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DB85A1F-78EC-3850-3B06-66F23A42D519}"/>
              </a:ext>
            </a:extLst>
          </p:cNvPr>
          <p:cNvGrpSpPr/>
          <p:nvPr/>
        </p:nvGrpSpPr>
        <p:grpSpPr>
          <a:xfrm>
            <a:off x="3821442" y="5748173"/>
            <a:ext cx="4602123" cy="769441"/>
            <a:chOff x="6759420" y="5735637"/>
            <a:chExt cx="4602123" cy="7694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802CA80-3047-786A-DE42-44B2DCEFDD5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759420" y="5873336"/>
              <a:ext cx="754418" cy="540000"/>
              <a:chOff x="3475329" y="2087246"/>
              <a:chExt cx="4303467" cy="3080353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6B0049B4-18BD-40B7-D1AF-DA3040867A42}"/>
                  </a:ext>
                </a:extLst>
              </p:cNvPr>
              <p:cNvCxnSpPr/>
              <p:nvPr/>
            </p:nvCxnSpPr>
            <p:spPr>
              <a:xfrm flipV="1">
                <a:off x="4542423" y="2559918"/>
                <a:ext cx="0" cy="216000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C815DA0-6EF3-E79D-0E74-8431638EAC07}"/>
                  </a:ext>
                </a:extLst>
              </p:cNvPr>
              <p:cNvCxnSpPr/>
              <p:nvPr/>
            </p:nvCxnSpPr>
            <p:spPr>
              <a:xfrm flipV="1">
                <a:off x="6721600" y="2547423"/>
                <a:ext cx="0" cy="216000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9B37734-C949-5EB3-9553-854DCB45C0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623583" y="2559918"/>
                <a:ext cx="1092909" cy="213501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26A7A54-9D77-5BFE-5F18-593D12796E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43850" y="2559918"/>
                <a:ext cx="1080000" cy="216000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027F80A-705B-6808-B734-7FCC70348E5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35009" y="2548781"/>
                <a:ext cx="1080000" cy="216000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0929EC-BB9B-2427-2DE3-1A0B6D50CBE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48473" y="2559918"/>
                <a:ext cx="1080000" cy="216000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4CA4AE0-C186-6A46-E7F8-0C6EFC78EF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088691" y="3633773"/>
                <a:ext cx="1080000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C4C86D9-F15B-330A-CB13-87642D38B31E}"/>
                  </a:ext>
                </a:extLst>
              </p:cNvPr>
              <p:cNvSpPr/>
              <p:nvPr/>
            </p:nvSpPr>
            <p:spPr>
              <a:xfrm>
                <a:off x="4091978" y="2087246"/>
                <a:ext cx="3080353" cy="3080353"/>
              </a:xfrm>
              <a:prstGeom prst="ellipse">
                <a:avLst/>
              </a:prstGeom>
              <a:noFill/>
              <a:ln w="254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 dirty="0"/>
              </a:p>
            </p:txBody>
          </p: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906DD45-BD49-2CF8-F50E-90EAC37836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618796" y="4712210"/>
                <a:ext cx="2160000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786120C-E33B-3795-02DF-6102B75D101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475329" y="2563093"/>
                <a:ext cx="2160000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083206C-1D9F-1DF0-2440-B2FF3266C53D}"/>
                </a:ext>
              </a:extLst>
            </p:cNvPr>
            <p:cNvSpPr txBox="1"/>
            <p:nvPr/>
          </p:nvSpPr>
          <p:spPr>
            <a:xfrm>
              <a:off x="7420015" y="5735637"/>
              <a:ext cx="39415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BR" sz="2400" b="1" dirty="0"/>
                <a:t>Adriana Melges Q Weingart</a:t>
              </a:r>
            </a:p>
            <a:p>
              <a:pPr algn="ctr"/>
              <a:r>
                <a:rPr lang="en-US" sz="2000" i="1" dirty="0">
                  <a:solidFill>
                    <a:schemeClr val="tx2"/>
                  </a:solidFill>
                  <a:latin typeface="Avenir Next Condensed" panose="020B0506020202020204" pitchFamily="34" charset="0"/>
                </a:rPr>
                <a:t>https://</a:t>
              </a:r>
              <a:r>
                <a:rPr lang="en-US" sz="2000" i="1" dirty="0" err="1">
                  <a:solidFill>
                    <a:schemeClr val="tx2"/>
                  </a:solidFill>
                  <a:latin typeface="Avenir Next Condensed" panose="020B0506020202020204" pitchFamily="34" charset="0"/>
                </a:rPr>
                <a:t>linktr.ee</a:t>
              </a:r>
              <a:r>
                <a:rPr lang="en-US" sz="2000" i="1" dirty="0">
                  <a:solidFill>
                    <a:schemeClr val="tx2"/>
                  </a:solidFill>
                  <a:latin typeface="Avenir Next Condensed" panose="020B0506020202020204" pitchFamily="34" charset="0"/>
                </a:rPr>
                <a:t>/</a:t>
              </a:r>
              <a:r>
                <a:rPr lang="en-US" sz="2000" i="1" dirty="0" err="1">
                  <a:solidFill>
                    <a:schemeClr val="tx2"/>
                  </a:solidFill>
                  <a:latin typeface="Avenir Next Condensed" panose="020B0506020202020204" pitchFamily="34" charset="0"/>
                </a:rPr>
                <a:t>adrianaweingart</a:t>
              </a:r>
              <a:endParaRPr lang="en-BR" sz="2000" i="1" dirty="0">
                <a:solidFill>
                  <a:schemeClr val="tx2"/>
                </a:solidFill>
                <a:latin typeface="Avenir Next Condensed" panose="020B0506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15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1E4A8B0-2C6D-97C1-FAEC-5A1223871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87" y="164683"/>
            <a:ext cx="6512313" cy="652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1E81784-5BB6-E6C4-6C74-462E0B613D56}"/>
              </a:ext>
            </a:extLst>
          </p:cNvPr>
          <p:cNvSpPr txBox="1"/>
          <p:nvPr/>
        </p:nvSpPr>
        <p:spPr>
          <a:xfrm rot="16200000">
            <a:off x="-2004508" y="2875002"/>
            <a:ext cx="563211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6600" dirty="0"/>
              <a:t>PROVOCAÇÃO</a:t>
            </a:r>
          </a:p>
        </p:txBody>
      </p:sp>
    </p:spTree>
    <p:extLst>
      <p:ext uri="{BB962C8B-B14F-4D97-AF65-F5344CB8AC3E}">
        <p14:creationId xmlns:p14="http://schemas.microsoft.com/office/powerpoint/2010/main" val="5703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2227-ECB2-DF12-4BE5-C471FFC6E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46" y="26571"/>
            <a:ext cx="11536680" cy="1325563"/>
          </a:xfrm>
        </p:spPr>
        <p:txBody>
          <a:bodyPr>
            <a:normAutofit/>
          </a:bodyPr>
          <a:lstStyle/>
          <a:p>
            <a:r>
              <a:rPr lang="en-BR" sz="3200" dirty="0">
                <a:solidFill>
                  <a:schemeClr val="accent2"/>
                </a:solidFill>
              </a:rPr>
              <a:t>Apresentar dados</a:t>
            </a:r>
            <a:endParaRPr lang="en-BR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85BDA-CCDB-19DC-ED3D-02D049102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346" y="1955913"/>
            <a:ext cx="5486400" cy="304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4C7ADED-7E27-DB63-5755-0726A86C8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388" y="1955913"/>
            <a:ext cx="5384800" cy="31369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0FF0BC-74F3-2747-7B0D-07F81C0C5CA7}"/>
              </a:ext>
            </a:extLst>
          </p:cNvPr>
          <p:cNvCxnSpPr>
            <a:cxnSpLocks/>
          </p:cNvCxnSpPr>
          <p:nvPr/>
        </p:nvCxnSpPr>
        <p:spPr>
          <a:xfrm flipV="1">
            <a:off x="6086686" y="1761179"/>
            <a:ext cx="0" cy="33316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C51BDF-1D2E-ED11-55EA-04C8C090E813}"/>
              </a:ext>
            </a:extLst>
          </p:cNvPr>
          <p:cNvCxnSpPr/>
          <p:nvPr/>
        </p:nvCxnSpPr>
        <p:spPr>
          <a:xfrm>
            <a:off x="440266" y="914511"/>
            <a:ext cx="2861733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14B5D9-A08F-A6CD-86B6-CDAB751BD2F8}"/>
              </a:ext>
            </a:extLst>
          </p:cNvPr>
          <p:cNvCxnSpPr>
            <a:cxnSpLocks/>
          </p:cNvCxnSpPr>
          <p:nvPr/>
        </p:nvCxnSpPr>
        <p:spPr>
          <a:xfrm>
            <a:off x="6688666" y="914509"/>
            <a:ext cx="4385733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Arrow: Clockwise curve outline">
            <a:extLst>
              <a:ext uri="{FF2B5EF4-FFF2-40B4-BE49-F238E27FC236}">
                <a16:creationId xmlns:a16="http://schemas.microsoft.com/office/drawing/2014/main" id="{49EA4CBE-DFC6-88A6-FDCE-B2AEFC8D4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2491699">
            <a:off x="9215119" y="1000075"/>
            <a:ext cx="914400" cy="914400"/>
          </a:xfrm>
          <a:prstGeom prst="rect">
            <a:avLst/>
          </a:prstGeom>
        </p:spPr>
      </p:pic>
      <p:pic>
        <p:nvPicPr>
          <p:cNvPr id="18" name="Graphic 17" descr="Arrow: Clockwise curve outline">
            <a:extLst>
              <a:ext uri="{FF2B5EF4-FFF2-40B4-BE49-F238E27FC236}">
                <a16:creationId xmlns:a16="http://schemas.microsoft.com/office/drawing/2014/main" id="{E25C2FFF-FCFA-F403-8305-6368FB53E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9108301" flipH="1">
            <a:off x="714480" y="1000075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4DFC93B-2771-98B6-20F3-5A6B4D1E7BED}"/>
              </a:ext>
            </a:extLst>
          </p:cNvPr>
          <p:cNvSpPr txBox="1"/>
          <p:nvPr/>
        </p:nvSpPr>
        <p:spPr>
          <a:xfrm>
            <a:off x="8378327" y="6492875"/>
            <a:ext cx="38136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600" i="1" dirty="0"/>
              <a:t>Fonte: </a:t>
            </a:r>
            <a:r>
              <a:rPr lang="en-BR" sz="1600" i="1" dirty="0">
                <a:hlinkClick r:id="rId7"/>
              </a:rPr>
              <a:t>Storytelling with Data / MakeOvers</a:t>
            </a:r>
            <a:endParaRPr lang="en-BR" sz="1600" i="1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32A7E15-3E25-48DC-3C48-0CB7C4F41162}"/>
              </a:ext>
            </a:extLst>
          </p:cNvPr>
          <p:cNvGrpSpPr/>
          <p:nvPr/>
        </p:nvGrpSpPr>
        <p:grpSpPr>
          <a:xfrm>
            <a:off x="2335653" y="5636267"/>
            <a:ext cx="7520694" cy="560737"/>
            <a:chOff x="3061546" y="5735953"/>
            <a:chExt cx="7520694" cy="56073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60AC06B-2F78-7199-E610-3AF4144FE3C5}"/>
                </a:ext>
              </a:extLst>
            </p:cNvPr>
            <p:cNvSpPr txBox="1"/>
            <p:nvPr/>
          </p:nvSpPr>
          <p:spPr>
            <a:xfrm>
              <a:off x="3601546" y="5742692"/>
              <a:ext cx="6980694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3000" dirty="0"/>
                <a:t>Se tudo é importante, nada é importante!</a:t>
              </a:r>
            </a:p>
          </p:txBody>
        </p:sp>
        <p:pic>
          <p:nvPicPr>
            <p:cNvPr id="23" name="Graphic 22" descr="Lightbulb with solid fill">
              <a:extLst>
                <a:ext uri="{FF2B5EF4-FFF2-40B4-BE49-F238E27FC236}">
                  <a16:creationId xmlns:a16="http://schemas.microsoft.com/office/drawing/2014/main" id="{3AD9E4D1-B00A-F939-5D02-DE776C91F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061546" y="5735953"/>
              <a:ext cx="540000" cy="540000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89AC91BC-7A2B-10A3-207D-45DDD8E281CD}"/>
              </a:ext>
            </a:extLst>
          </p:cNvPr>
          <p:cNvSpPr txBox="1">
            <a:spLocks/>
          </p:cNvSpPr>
          <p:nvPr/>
        </p:nvSpPr>
        <p:spPr>
          <a:xfrm>
            <a:off x="3301998" y="26570"/>
            <a:ext cx="85530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não é o mesmo que </a:t>
            </a:r>
            <a:r>
              <a:rPr lang="en-BR" sz="3200" dirty="0">
                <a:solidFill>
                  <a:schemeClr val="accent2"/>
                </a:solidFill>
              </a:rPr>
              <a:t>contar a história dos dados</a:t>
            </a:r>
            <a:r>
              <a:rPr lang="en-B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81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B9989D5-9D85-B5A0-842E-A25EF91A6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 que torna um </a:t>
            </a:r>
            <a:b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gráfico confuso?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22" name="Freeform: Shape 29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31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 descr="Dizzy face outline with solid fill">
            <a:extLst>
              <a:ext uri="{FF2B5EF4-FFF2-40B4-BE49-F238E27FC236}">
                <a16:creationId xmlns:a16="http://schemas.microsoft.com/office/drawing/2014/main" id="{39236B42-3CB2-7BE3-1856-D980E5977B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654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77DC340A-CB34-806C-F30F-E6EDCA995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38" y="1672684"/>
            <a:ext cx="5182282" cy="3860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DB642F2F-3F75-C8F7-FC21-B5C95DE00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354" y="1672684"/>
            <a:ext cx="6096000" cy="3860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C7D1F7-36D0-F766-5159-493E5B61BD29}"/>
              </a:ext>
            </a:extLst>
          </p:cNvPr>
          <p:cNvSpPr txBox="1"/>
          <p:nvPr/>
        </p:nvSpPr>
        <p:spPr>
          <a:xfrm>
            <a:off x="2199868" y="5633845"/>
            <a:ext cx="33761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600" i="1" dirty="0"/>
              <a:t>Fonte: </a:t>
            </a:r>
            <a:r>
              <a:rPr lang="en-BR" sz="1600" i="1" dirty="0">
                <a:hlinkClick r:id="rId5"/>
              </a:rPr>
              <a:t>G1 / Globo.com – 09/06/2023</a:t>
            </a:r>
            <a:endParaRPr lang="en-BR" sz="16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DC9B2-2473-67BE-DB18-5740DC8A7CD2}"/>
              </a:ext>
            </a:extLst>
          </p:cNvPr>
          <p:cNvSpPr txBox="1"/>
          <p:nvPr/>
        </p:nvSpPr>
        <p:spPr>
          <a:xfrm>
            <a:off x="7138141" y="5633845"/>
            <a:ext cx="48072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R" sz="1600" i="1" dirty="0"/>
              <a:t>Fonte: </a:t>
            </a:r>
            <a:r>
              <a:rPr lang="en-BR" sz="1600" i="1" dirty="0">
                <a:hlinkClick r:id="rId6"/>
              </a:rPr>
              <a:t>LinkedIn Prof. Fernanda Maciel (comentários</a:t>
            </a:r>
            <a:r>
              <a:rPr lang="en-BR" sz="1600" i="1" dirty="0"/>
              <a:t>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07BCB5-9A92-A4D4-0B8C-C41CFDEE365E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Exemplo 1 – Antes e Depois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5F444-C11E-1DB8-0F43-BF3FD6572F4A}"/>
              </a:ext>
            </a:extLst>
          </p:cNvPr>
          <p:cNvSpPr txBox="1"/>
          <p:nvPr/>
        </p:nvSpPr>
        <p:spPr>
          <a:xfrm>
            <a:off x="229138" y="1272574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000" b="1" dirty="0"/>
              <a:t>ANTES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C043F7-AB1A-2F89-DAC6-E7EB4E8082EA}"/>
              </a:ext>
            </a:extLst>
          </p:cNvPr>
          <p:cNvSpPr txBox="1"/>
          <p:nvPr/>
        </p:nvSpPr>
        <p:spPr>
          <a:xfrm>
            <a:off x="5820063" y="1272574"/>
            <a:ext cx="1087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000" b="1" dirty="0"/>
              <a:t>DEPOIS</a:t>
            </a:r>
          </a:p>
        </p:txBody>
      </p:sp>
    </p:spTree>
    <p:extLst>
      <p:ext uri="{BB962C8B-B14F-4D97-AF65-F5344CB8AC3E}">
        <p14:creationId xmlns:p14="http://schemas.microsoft.com/office/powerpoint/2010/main" val="232271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6" name="Rectangle 615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F27190E3-93D4-A944-6304-7E22349BC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0397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6" descr="A graph of a graph of a person's performance&#10;&#10;AI-generated content may be incorrect.">
            <a:extLst>
              <a:ext uri="{FF2B5EF4-FFF2-40B4-BE49-F238E27FC236}">
                <a16:creationId xmlns:a16="http://schemas.microsoft.com/office/drawing/2014/main" id="{EBE480D1-3DE3-695B-4188-88FD729AD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03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2AC4-21ED-CE72-B60C-408992EE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3888839-7C61-E521-F802-21ABA7951023}"/>
              </a:ext>
            </a:extLst>
          </p:cNvPr>
          <p:cNvSpPr txBox="1"/>
          <p:nvPr/>
        </p:nvSpPr>
        <p:spPr>
          <a:xfrm>
            <a:off x="8608974" y="6392127"/>
            <a:ext cx="34924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BR" sz="1600" i="1" dirty="0"/>
              <a:t>Fonte: </a:t>
            </a:r>
            <a:r>
              <a:rPr lang="en-BR" sz="1600" i="1" dirty="0">
                <a:hlinkClick r:id="rId3"/>
              </a:rPr>
              <a:t>AW TechBits blog – 12/04/2025</a:t>
            </a:r>
            <a:endParaRPr lang="en-BR" sz="1600" i="1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45BDF8-360F-4785-EFA2-57D0B889841A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Exemplo 2 – Antes e Depois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AD2163-E623-1216-2AA8-9405621BEDFC}"/>
              </a:ext>
            </a:extLst>
          </p:cNvPr>
          <p:cNvSpPr txBox="1"/>
          <p:nvPr/>
        </p:nvSpPr>
        <p:spPr>
          <a:xfrm>
            <a:off x="229138" y="1352134"/>
            <a:ext cx="9605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000" b="1" dirty="0"/>
              <a:t>ANTES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AFBE4-DC09-173B-C89F-FFC5B1995F5B}"/>
              </a:ext>
            </a:extLst>
          </p:cNvPr>
          <p:cNvSpPr txBox="1"/>
          <p:nvPr/>
        </p:nvSpPr>
        <p:spPr>
          <a:xfrm>
            <a:off x="6047240" y="1374438"/>
            <a:ext cx="1087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000" b="1" dirty="0"/>
              <a:t>DEPOIS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ED660993-EB1D-B9A4-B181-3600386D96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38" y="1835878"/>
            <a:ext cx="5760000" cy="32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6989207A-4C62-0A2D-64B9-A59F31A33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340" y="1835878"/>
            <a:ext cx="5770686" cy="324000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8845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F17A-51FF-00CC-2A03-F55890774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950BE42-F0C1-DB52-C4B3-ACAE71FEF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412" y="1352134"/>
            <a:ext cx="5300547" cy="5313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49C0F4-7AF1-4D92-CBDC-864C2ED3DC33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Qual a pergunta que esse gráfico responde? </a:t>
            </a:r>
          </a:p>
          <a:p>
            <a:r>
              <a:rPr lang="en-BR" sz="3200" dirty="0"/>
              <a:t>Que informação ele quer passar?</a:t>
            </a:r>
          </a:p>
        </p:txBody>
      </p:sp>
    </p:spTree>
    <p:extLst>
      <p:ext uri="{BB962C8B-B14F-4D97-AF65-F5344CB8AC3E}">
        <p14:creationId xmlns:p14="http://schemas.microsoft.com/office/powerpoint/2010/main" val="330796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000B-6931-48EE-42BF-54788076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49AA31-750F-4105-18C1-56A64C772247}"/>
              </a:ext>
            </a:extLst>
          </p:cNvPr>
          <p:cNvSpPr txBox="1"/>
          <p:nvPr/>
        </p:nvSpPr>
        <p:spPr>
          <a:xfrm>
            <a:off x="6889617" y="1076834"/>
            <a:ext cx="2286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400" dirty="0"/>
              <a:t>1 – Qual o foco?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CA34A-2009-AD2E-F201-58D4D1243431}"/>
              </a:ext>
            </a:extLst>
          </p:cNvPr>
          <p:cNvSpPr txBox="1"/>
          <p:nvPr/>
        </p:nvSpPr>
        <p:spPr>
          <a:xfrm>
            <a:off x="6925319" y="1769614"/>
            <a:ext cx="4162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400" dirty="0"/>
              <a:t>2 – Sobre o que é este gráfico?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A6CBD-1802-C720-9BDB-2EA3321CA75B}"/>
              </a:ext>
            </a:extLst>
          </p:cNvPr>
          <p:cNvSpPr txBox="1"/>
          <p:nvPr/>
        </p:nvSpPr>
        <p:spPr>
          <a:xfrm>
            <a:off x="6889617" y="259315"/>
            <a:ext cx="50048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3200" b="1" dirty="0"/>
              <a:t>DEFININDO A MENSAGEM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A124768-3E92-6C69-0F90-1BFB81C64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73" y="259315"/>
            <a:ext cx="6326352" cy="634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316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126C545-59BB-EE89-4930-08BCB7B51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73" y="259315"/>
            <a:ext cx="6326352" cy="6342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11A1F9-4A90-2DEC-2BD4-DF868A3256DA}"/>
              </a:ext>
            </a:extLst>
          </p:cNvPr>
          <p:cNvSpPr txBox="1"/>
          <p:nvPr/>
        </p:nvSpPr>
        <p:spPr>
          <a:xfrm>
            <a:off x="6889617" y="259315"/>
            <a:ext cx="15163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3200" b="1" dirty="0"/>
              <a:t>CORES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AFA32A-05E4-BDE0-CABC-4214F7DDD48D}"/>
              </a:ext>
            </a:extLst>
          </p:cNvPr>
          <p:cNvSpPr txBox="1"/>
          <p:nvPr/>
        </p:nvSpPr>
        <p:spPr>
          <a:xfrm>
            <a:off x="6889617" y="844090"/>
            <a:ext cx="4966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000" dirty="0"/>
              <a:t>1 – Olhando este mapa, sem ler nada, qual estado que “salta” aos olhos?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385007-B05C-AA48-9EAB-5E23704C5134}"/>
              </a:ext>
            </a:extLst>
          </p:cNvPr>
          <p:cNvSpPr txBox="1"/>
          <p:nvPr/>
        </p:nvSpPr>
        <p:spPr>
          <a:xfrm>
            <a:off x="6889617" y="1707575"/>
            <a:ext cx="496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000" dirty="0"/>
              <a:t>2 – Onde foi parar Roraima e Acre?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03BC7-8E2C-FAB2-DABB-CE044C368011}"/>
              </a:ext>
            </a:extLst>
          </p:cNvPr>
          <p:cNvSpPr txBox="1"/>
          <p:nvPr/>
        </p:nvSpPr>
        <p:spPr>
          <a:xfrm>
            <a:off x="6889617" y="2263284"/>
            <a:ext cx="496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000" dirty="0"/>
              <a:t>3 – PA, TO e MS não tem dados – cinza.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8314E-3EC2-24B2-D295-07A8A3F9C971}"/>
              </a:ext>
            </a:extLst>
          </p:cNvPr>
          <p:cNvSpPr txBox="1"/>
          <p:nvPr/>
        </p:nvSpPr>
        <p:spPr>
          <a:xfrm>
            <a:off x="6889617" y="2818993"/>
            <a:ext cx="49660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000" dirty="0"/>
              <a:t>4 – SP, MG e RJ, assim como AM e MT (e outros estados do nordeste) viraram grandes blocos vermelhos.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B97F4-DE8C-2E18-D5D8-D88C0F42F0B4}"/>
              </a:ext>
            </a:extLst>
          </p:cNvPr>
          <p:cNvSpPr txBox="1"/>
          <p:nvPr/>
        </p:nvSpPr>
        <p:spPr>
          <a:xfrm>
            <a:off x="6889617" y="4853740"/>
            <a:ext cx="49660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000" dirty="0"/>
              <a:t>6 – Como um daltônico enxerga isso?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56B700-C74E-BC11-065F-4F2008925E6A}"/>
              </a:ext>
            </a:extLst>
          </p:cNvPr>
          <p:cNvGrpSpPr/>
          <p:nvPr/>
        </p:nvGrpSpPr>
        <p:grpSpPr>
          <a:xfrm>
            <a:off x="6889617" y="5396796"/>
            <a:ext cx="4752256" cy="1116887"/>
            <a:chOff x="6889617" y="5396796"/>
            <a:chExt cx="4752256" cy="1116887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CB246FD-89CB-7FB8-18AA-AC1E68DA8194}"/>
                </a:ext>
              </a:extLst>
            </p:cNvPr>
            <p:cNvSpPr/>
            <p:nvPr/>
          </p:nvSpPr>
          <p:spPr>
            <a:xfrm>
              <a:off x="6889617" y="5396796"/>
              <a:ext cx="4752256" cy="1116887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801265B-BBCF-57BC-C1A6-769FE619C82E}"/>
                </a:ext>
              </a:extLst>
            </p:cNvPr>
            <p:cNvSpPr txBox="1"/>
            <p:nvPr/>
          </p:nvSpPr>
          <p:spPr>
            <a:xfrm>
              <a:off x="7290966" y="5539740"/>
              <a:ext cx="3949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BR" sz="2400" dirty="0">
                  <a:hlinkClick r:id="rId4"/>
                </a:rPr>
                <a:t>Coblis –</a:t>
              </a:r>
            </a:p>
            <a:p>
              <a:r>
                <a:rPr lang="en-BR" sz="2400" dirty="0">
                  <a:hlinkClick r:id="rId4"/>
                </a:rPr>
                <a:t>Color Blindness Simulator</a:t>
              </a:r>
              <a:endParaRPr lang="en-BR" sz="24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84772475-6B27-A582-8C8A-AFA95D492E46}"/>
              </a:ext>
            </a:extLst>
          </p:cNvPr>
          <p:cNvSpPr txBox="1"/>
          <p:nvPr/>
        </p:nvSpPr>
        <p:spPr>
          <a:xfrm>
            <a:off x="6889617" y="3990255"/>
            <a:ext cx="4966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2000" dirty="0"/>
              <a:t>5 – Por que cores, aparentemente, aleatórias, e não usar uma escala única?</a:t>
            </a:r>
          </a:p>
        </p:txBody>
      </p:sp>
    </p:spTree>
    <p:extLst>
      <p:ext uri="{BB962C8B-B14F-4D97-AF65-F5344CB8AC3E}">
        <p14:creationId xmlns:p14="http://schemas.microsoft.com/office/powerpoint/2010/main" val="232343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4B9E46-14FD-8A7A-D877-688A3C284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01" y="1454720"/>
            <a:ext cx="5031988" cy="4709852"/>
          </a:xfrm>
          <a:prstGeom prst="rect">
            <a:avLst/>
          </a:prstGeom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E1B8D8DA-F73F-9244-DC90-4891CD9B8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4772" y="1277734"/>
            <a:ext cx="5787228" cy="506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 descr="Chevron arrows with solid fill">
            <a:extLst>
              <a:ext uri="{FF2B5EF4-FFF2-40B4-BE49-F238E27FC236}">
                <a16:creationId xmlns:a16="http://schemas.microsoft.com/office/drawing/2014/main" id="{4F3F1201-A302-817E-6511-887E75CDF9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30899" y="3352446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5E12E40-A8E3-4046-E49A-B95FC296550A}"/>
              </a:ext>
            </a:extLst>
          </p:cNvPr>
          <p:cNvSpPr txBox="1"/>
          <p:nvPr/>
        </p:nvSpPr>
        <p:spPr>
          <a:xfrm>
            <a:off x="5072811" y="4202951"/>
            <a:ext cx="163057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b="1" dirty="0"/>
              <a:t>Google Colab</a:t>
            </a:r>
          </a:p>
          <a:p>
            <a:pPr marL="285750" indent="-285750">
              <a:buFontTx/>
              <a:buChar char="-"/>
            </a:pPr>
            <a:r>
              <a:rPr lang="en-US" dirty="0"/>
              <a:t>P</a:t>
            </a:r>
            <a:r>
              <a:rPr lang="en-BR" dirty="0"/>
              <a:t>andas</a:t>
            </a:r>
          </a:p>
          <a:p>
            <a:pPr marL="285750" indent="-285750">
              <a:buFontTx/>
              <a:buChar char="-"/>
            </a:pPr>
            <a:r>
              <a:rPr lang="en-BR" dirty="0"/>
              <a:t>Numpy</a:t>
            </a:r>
          </a:p>
          <a:p>
            <a:pPr marL="285750" indent="-285750">
              <a:buFontTx/>
              <a:buChar char="-"/>
            </a:pPr>
            <a:r>
              <a:rPr lang="en-BR" dirty="0"/>
              <a:t>Geopandas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86C2E6-8F0F-3AAC-D3CB-26152B4FCCD8}"/>
              </a:ext>
            </a:extLst>
          </p:cNvPr>
          <p:cNvSpPr txBox="1"/>
          <p:nvPr/>
        </p:nvSpPr>
        <p:spPr>
          <a:xfrm>
            <a:off x="10303727" y="6341559"/>
            <a:ext cx="1720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dirty="0"/>
              <a:t>Código: </a:t>
            </a:r>
            <a:r>
              <a:rPr lang="en-BR" dirty="0">
                <a:hlinkClick r:id="rId7"/>
              </a:rPr>
              <a:t>GitHub</a:t>
            </a:r>
            <a:endParaRPr lang="en-BR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D0F5F0D-87AD-92BC-A572-32078FFCCB6D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Nova roupagem para o mapa…</a:t>
            </a:r>
          </a:p>
        </p:txBody>
      </p:sp>
    </p:spTree>
    <p:extLst>
      <p:ext uri="{BB962C8B-B14F-4D97-AF65-F5344CB8AC3E}">
        <p14:creationId xmlns:p14="http://schemas.microsoft.com/office/powerpoint/2010/main" val="176451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0B1729-1171-ABD3-3680-C11C0AF9E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965" y="653467"/>
            <a:ext cx="1756740" cy="58030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9FCE254-435F-481D-4C6E-B488E0B4B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4108" y="1584596"/>
            <a:ext cx="5080000" cy="502397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A27238C4-9CC7-FB18-974A-EA3A7BA65835}"/>
              </a:ext>
            </a:extLst>
          </p:cNvPr>
          <p:cNvSpPr txBox="1"/>
          <p:nvPr/>
        </p:nvSpPr>
        <p:spPr>
          <a:xfrm>
            <a:off x="7740714" y="2200096"/>
            <a:ext cx="121129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500" dirty="0">
                <a:solidFill>
                  <a:schemeClr val="tx1"/>
                </a:solidFill>
              </a:rPr>
              <a:t>Ceará – 85%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DBF5336-F06C-4773-6DB9-7E5F2C10F3A9}"/>
              </a:ext>
            </a:extLst>
          </p:cNvPr>
          <p:cNvGrpSpPr/>
          <p:nvPr/>
        </p:nvGrpSpPr>
        <p:grpSpPr>
          <a:xfrm>
            <a:off x="6915567" y="2477793"/>
            <a:ext cx="2036441" cy="397565"/>
            <a:chOff x="7147974" y="2292626"/>
            <a:chExt cx="2036441" cy="397565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8035C54-C6E5-2580-5F13-7356AD5F02BB}"/>
                </a:ext>
              </a:extLst>
            </p:cNvPr>
            <p:cNvCxnSpPr/>
            <p:nvPr/>
          </p:nvCxnSpPr>
          <p:spPr>
            <a:xfrm flipV="1">
              <a:off x="7147974" y="2292626"/>
              <a:ext cx="683062" cy="397565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5666C75-AD31-4A40-3675-B8EE8644D7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888" y="2292626"/>
              <a:ext cx="1356527" cy="3864"/>
            </a:xfrm>
            <a:prstGeom prst="line">
              <a:avLst/>
            </a:prstGeom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48E5040B-2110-1F9F-E86E-1EB0B9E26262}"/>
              </a:ext>
            </a:extLst>
          </p:cNvPr>
          <p:cNvGrpSpPr/>
          <p:nvPr/>
        </p:nvGrpSpPr>
        <p:grpSpPr>
          <a:xfrm>
            <a:off x="7825984" y="4096581"/>
            <a:ext cx="2939698" cy="2200801"/>
            <a:chOff x="8224973" y="3896427"/>
            <a:chExt cx="2939698" cy="22008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6ADA195-E6F8-CC51-148C-9CE35D6E01F9}"/>
                </a:ext>
              </a:extLst>
            </p:cNvPr>
            <p:cNvGrpSpPr/>
            <p:nvPr/>
          </p:nvGrpSpPr>
          <p:grpSpPr>
            <a:xfrm>
              <a:off x="8224973" y="5820229"/>
              <a:ext cx="2939698" cy="276999"/>
              <a:chOff x="8224973" y="5820229"/>
              <a:chExt cx="2939698" cy="27699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0573851-CDEC-5D9F-0D69-91AE115DA566}"/>
                  </a:ext>
                </a:extLst>
              </p:cNvPr>
              <p:cNvSpPr/>
              <p:nvPr/>
            </p:nvSpPr>
            <p:spPr>
              <a:xfrm>
                <a:off x="8224973" y="5820229"/>
                <a:ext cx="333828" cy="261257"/>
              </a:xfrm>
              <a:prstGeom prst="rect">
                <a:avLst/>
              </a:prstGeom>
              <a:solidFill>
                <a:srgbClr val="D3D3D3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272AEE7-39D3-3D5B-6F95-F16C07492CAC}"/>
                  </a:ext>
                </a:extLst>
              </p:cNvPr>
              <p:cNvSpPr txBox="1"/>
              <p:nvPr/>
            </p:nvSpPr>
            <p:spPr>
              <a:xfrm>
                <a:off x="8672963" y="5820229"/>
                <a:ext cx="24917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Sem resultado / participação baixa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44409F7-17E3-988F-F7F1-2C34380BA5AE}"/>
                </a:ext>
              </a:extLst>
            </p:cNvPr>
            <p:cNvGrpSpPr/>
            <p:nvPr/>
          </p:nvGrpSpPr>
          <p:grpSpPr>
            <a:xfrm>
              <a:off x="8224973" y="5499597"/>
              <a:ext cx="2418338" cy="276999"/>
              <a:chOff x="8224973" y="5446883"/>
              <a:chExt cx="2418338" cy="2769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3858030-B0D2-9D7B-8149-AD301C681E91}"/>
                  </a:ext>
                </a:extLst>
              </p:cNvPr>
              <p:cNvSpPr/>
              <p:nvPr/>
            </p:nvSpPr>
            <p:spPr>
              <a:xfrm>
                <a:off x="8224973" y="5446883"/>
                <a:ext cx="333828" cy="261257"/>
              </a:xfrm>
              <a:prstGeom prst="rect">
                <a:avLst/>
              </a:prstGeom>
              <a:solidFill>
                <a:srgbClr val="F3EBE0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6498F7E-6B08-96F3-1FD7-0CC75F792897}"/>
                  </a:ext>
                </a:extLst>
              </p:cNvPr>
              <p:cNvSpPr txBox="1"/>
              <p:nvPr/>
            </p:nvSpPr>
            <p:spPr>
              <a:xfrm>
                <a:off x="8672963" y="5446883"/>
                <a:ext cx="1970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Abaixo do Nível 1 (até 40%)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4E585A8-39D1-6C99-F645-C2EA5B1868E4}"/>
                </a:ext>
              </a:extLst>
            </p:cNvPr>
            <p:cNvGrpSpPr/>
            <p:nvPr/>
          </p:nvGrpSpPr>
          <p:grpSpPr>
            <a:xfrm>
              <a:off x="8224973" y="5178963"/>
              <a:ext cx="2309012" cy="276999"/>
              <a:chOff x="8224973" y="5073537"/>
              <a:chExt cx="2309012" cy="27699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48F5A22-3FD5-1149-A42B-D8F781317E1A}"/>
                  </a:ext>
                </a:extLst>
              </p:cNvPr>
              <p:cNvSpPr/>
              <p:nvPr/>
            </p:nvSpPr>
            <p:spPr>
              <a:xfrm>
                <a:off x="8224973" y="5073537"/>
                <a:ext cx="333828" cy="261257"/>
              </a:xfrm>
              <a:prstGeom prst="rect">
                <a:avLst/>
              </a:prstGeom>
              <a:solidFill>
                <a:srgbClr val="FCDCAF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B087AE6-5403-57AC-8B13-73973475F452}"/>
                  </a:ext>
                </a:extLst>
              </p:cNvPr>
              <p:cNvSpPr txBox="1"/>
              <p:nvPr/>
            </p:nvSpPr>
            <p:spPr>
              <a:xfrm>
                <a:off x="8672963" y="5073537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1 (entre 41% e 50%)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8C4814A-89D9-8314-D6D7-98969CCC666F}"/>
                </a:ext>
              </a:extLst>
            </p:cNvPr>
            <p:cNvGrpSpPr/>
            <p:nvPr/>
          </p:nvGrpSpPr>
          <p:grpSpPr>
            <a:xfrm>
              <a:off x="8224973" y="4858329"/>
              <a:ext cx="2309012" cy="276999"/>
              <a:chOff x="8224973" y="4700191"/>
              <a:chExt cx="2309012" cy="27699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3839405-3F53-911F-09BD-E2257191CA21}"/>
                  </a:ext>
                </a:extLst>
              </p:cNvPr>
              <p:cNvSpPr/>
              <p:nvPr/>
            </p:nvSpPr>
            <p:spPr>
              <a:xfrm>
                <a:off x="8224973" y="4700191"/>
                <a:ext cx="333828" cy="261257"/>
              </a:xfrm>
              <a:prstGeom prst="rect">
                <a:avLst/>
              </a:prstGeom>
              <a:solidFill>
                <a:srgbClr val="F9B27A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C6628D2-85EE-E08C-2EFD-9724EE8E7156}"/>
                  </a:ext>
                </a:extLst>
              </p:cNvPr>
              <p:cNvSpPr txBox="1"/>
              <p:nvPr/>
            </p:nvSpPr>
            <p:spPr>
              <a:xfrm>
                <a:off x="8672963" y="4700191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2 (entre 51% e 60%)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C88F7B4-1D26-E494-7A20-46A543E9CCA6}"/>
                </a:ext>
              </a:extLst>
            </p:cNvPr>
            <p:cNvGrpSpPr/>
            <p:nvPr/>
          </p:nvGrpSpPr>
          <p:grpSpPr>
            <a:xfrm>
              <a:off x="8224973" y="4537695"/>
              <a:ext cx="2309012" cy="276999"/>
              <a:chOff x="8224973" y="4326845"/>
              <a:chExt cx="2309012" cy="2769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37171F6-66F6-43C0-FE36-29A75098939C}"/>
                  </a:ext>
                </a:extLst>
              </p:cNvPr>
              <p:cNvSpPr/>
              <p:nvPr/>
            </p:nvSpPr>
            <p:spPr>
              <a:xfrm>
                <a:off x="8224973" y="4326845"/>
                <a:ext cx="333828" cy="261257"/>
              </a:xfrm>
              <a:prstGeom prst="rect">
                <a:avLst/>
              </a:prstGeom>
              <a:solidFill>
                <a:srgbClr val="F36D4B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B97187-9B6F-A1D5-F9B2-37AAC527BCA6}"/>
                  </a:ext>
                </a:extLst>
              </p:cNvPr>
              <p:cNvSpPr txBox="1"/>
              <p:nvPr/>
            </p:nvSpPr>
            <p:spPr>
              <a:xfrm>
                <a:off x="8672963" y="4326845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3 (entre 61% e 70%)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8049776-B2E7-9E8E-FFE6-497F3673CD4D}"/>
                </a:ext>
              </a:extLst>
            </p:cNvPr>
            <p:cNvGrpSpPr/>
            <p:nvPr/>
          </p:nvGrpSpPr>
          <p:grpSpPr>
            <a:xfrm>
              <a:off x="8224973" y="4217061"/>
              <a:ext cx="2309012" cy="276999"/>
              <a:chOff x="8224973" y="3955812"/>
              <a:chExt cx="2309012" cy="27699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35A5171-53AE-4548-5A89-192CF5CF9DE8}"/>
                  </a:ext>
                </a:extLst>
              </p:cNvPr>
              <p:cNvSpPr/>
              <p:nvPr/>
            </p:nvSpPr>
            <p:spPr>
              <a:xfrm>
                <a:off x="8224973" y="3955812"/>
                <a:ext cx="333828" cy="261257"/>
              </a:xfrm>
              <a:prstGeom prst="rect">
                <a:avLst/>
              </a:prstGeom>
              <a:solidFill>
                <a:srgbClr val="CA1C13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5C24D93-53B0-F150-1118-EF3FB666E4F3}"/>
                  </a:ext>
                </a:extLst>
              </p:cNvPr>
              <p:cNvSpPr txBox="1"/>
              <p:nvPr/>
            </p:nvSpPr>
            <p:spPr>
              <a:xfrm>
                <a:off x="8672963" y="3955812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4 (entre 71% e 80%)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BF00D59-9CB0-FEB5-B948-608D6B1B1DAE}"/>
                </a:ext>
              </a:extLst>
            </p:cNvPr>
            <p:cNvGrpSpPr/>
            <p:nvPr/>
          </p:nvGrpSpPr>
          <p:grpSpPr>
            <a:xfrm>
              <a:off x="8224973" y="3896427"/>
              <a:ext cx="2137620" cy="276999"/>
              <a:chOff x="8236359" y="3582466"/>
              <a:chExt cx="2137620" cy="27699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DAC603F-D48F-EC41-414D-2C5EE79DA098}"/>
                  </a:ext>
                </a:extLst>
              </p:cNvPr>
              <p:cNvSpPr/>
              <p:nvPr/>
            </p:nvSpPr>
            <p:spPr>
              <a:xfrm>
                <a:off x="8236359" y="3582466"/>
                <a:ext cx="333828" cy="261257"/>
              </a:xfrm>
              <a:prstGeom prst="rect">
                <a:avLst/>
              </a:prstGeom>
              <a:solidFill>
                <a:srgbClr val="7F0000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5F9E8AA-0DD8-6838-4780-E3B741654926}"/>
                  </a:ext>
                </a:extLst>
              </p:cNvPr>
              <p:cNvSpPr txBox="1"/>
              <p:nvPr/>
            </p:nvSpPr>
            <p:spPr>
              <a:xfrm>
                <a:off x="8684349" y="3582466"/>
                <a:ext cx="16896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5 (acima de 81%)</a:t>
                </a:r>
              </a:p>
            </p:txBody>
          </p:sp>
        </p:grpSp>
      </p:grpSp>
      <p:sp>
        <p:nvSpPr>
          <p:cNvPr id="38" name="Title 1">
            <a:extLst>
              <a:ext uri="{FF2B5EF4-FFF2-40B4-BE49-F238E27FC236}">
                <a16:creationId xmlns:a16="http://schemas.microsoft.com/office/drawing/2014/main" id="{BAF3CB3C-0425-A865-D460-702ACA391D0F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Adicionando informações essenciais…</a:t>
            </a:r>
          </a:p>
        </p:txBody>
      </p:sp>
    </p:spTree>
    <p:extLst>
      <p:ext uri="{BB962C8B-B14F-4D97-AF65-F5344CB8AC3E}">
        <p14:creationId xmlns:p14="http://schemas.microsoft.com/office/powerpoint/2010/main" val="3081111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8A2F8-5AFB-8912-203B-DBACB52E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62BED-DAA3-F856-2CF8-2532A3A46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965" y="653467"/>
            <a:ext cx="1756740" cy="580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51B97F-EB6D-B773-C30E-90E832323C8D}"/>
              </a:ext>
            </a:extLst>
          </p:cNvPr>
          <p:cNvSpPr txBox="1"/>
          <p:nvPr/>
        </p:nvSpPr>
        <p:spPr>
          <a:xfrm>
            <a:off x="2317882" y="530821"/>
            <a:ext cx="527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dirty="0"/>
              <a:t>Com 85% de crianças alfabetizadas na idade certa,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60825-D172-12CF-8BE9-5F073DD412CE}"/>
              </a:ext>
            </a:extLst>
          </p:cNvPr>
          <p:cNvSpPr txBox="1"/>
          <p:nvPr/>
        </p:nvSpPr>
        <p:spPr>
          <a:xfrm>
            <a:off x="4299578" y="801661"/>
            <a:ext cx="3232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b="1" dirty="0"/>
              <a:t>Ceará lidera ranking nacional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9091CFF-F732-435F-C420-F7263BD7980D}"/>
              </a:ext>
            </a:extLst>
          </p:cNvPr>
          <p:cNvGrpSpPr/>
          <p:nvPr/>
        </p:nvGrpSpPr>
        <p:grpSpPr>
          <a:xfrm>
            <a:off x="2614108" y="1584596"/>
            <a:ext cx="6337900" cy="5023971"/>
            <a:chOff x="2846515" y="1399429"/>
            <a:chExt cx="6337900" cy="502397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8F13548D-D087-6F6C-69C2-6296DB491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6515" y="1399429"/>
              <a:ext cx="5080000" cy="502397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B1199EA-9B57-BA2D-D52F-91384F72D640}"/>
                </a:ext>
              </a:extLst>
            </p:cNvPr>
            <p:cNvSpPr txBox="1"/>
            <p:nvPr/>
          </p:nvSpPr>
          <p:spPr>
            <a:xfrm>
              <a:off x="7973121" y="2014929"/>
              <a:ext cx="12112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500" dirty="0">
                  <a:solidFill>
                    <a:schemeClr val="tx1"/>
                  </a:solidFill>
                </a:rPr>
                <a:t>Ceará – 85%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7BA941F-B327-58F5-CD53-8E0D11A18C84}"/>
                </a:ext>
              </a:extLst>
            </p:cNvPr>
            <p:cNvGrpSpPr/>
            <p:nvPr/>
          </p:nvGrpSpPr>
          <p:grpSpPr>
            <a:xfrm>
              <a:off x="7147974" y="2292626"/>
              <a:ext cx="2036441" cy="397565"/>
              <a:chOff x="7147974" y="2292626"/>
              <a:chExt cx="2036441" cy="397565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0A31156-7BEC-8824-F2BB-66067CAF95B5}"/>
                  </a:ext>
                </a:extLst>
              </p:cNvPr>
              <p:cNvCxnSpPr/>
              <p:nvPr/>
            </p:nvCxnSpPr>
            <p:spPr>
              <a:xfrm flipV="1">
                <a:off x="7147974" y="2292626"/>
                <a:ext cx="683062" cy="397565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D6B0982-4A5A-2DBB-0AC0-325F8B1B227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7888" y="2292626"/>
                <a:ext cx="1356527" cy="3864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10AC32E-906E-3ABF-7384-C9B4B32B4B9F}"/>
              </a:ext>
            </a:extLst>
          </p:cNvPr>
          <p:cNvGrpSpPr/>
          <p:nvPr/>
        </p:nvGrpSpPr>
        <p:grpSpPr>
          <a:xfrm>
            <a:off x="7825984" y="4096581"/>
            <a:ext cx="2939698" cy="2200801"/>
            <a:chOff x="8224973" y="3896427"/>
            <a:chExt cx="2939698" cy="22008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B2AA439-EA40-CCB8-992D-ADE50D484B02}"/>
                </a:ext>
              </a:extLst>
            </p:cNvPr>
            <p:cNvGrpSpPr/>
            <p:nvPr/>
          </p:nvGrpSpPr>
          <p:grpSpPr>
            <a:xfrm>
              <a:off x="8224973" y="5820229"/>
              <a:ext cx="2939698" cy="276999"/>
              <a:chOff x="8224973" y="5820229"/>
              <a:chExt cx="2939698" cy="27699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E7E9EAF-997F-CF05-FDEF-0D7EB9582DB6}"/>
                  </a:ext>
                </a:extLst>
              </p:cNvPr>
              <p:cNvSpPr/>
              <p:nvPr/>
            </p:nvSpPr>
            <p:spPr>
              <a:xfrm>
                <a:off x="8224973" y="5820229"/>
                <a:ext cx="333828" cy="261257"/>
              </a:xfrm>
              <a:prstGeom prst="rect">
                <a:avLst/>
              </a:prstGeom>
              <a:solidFill>
                <a:srgbClr val="D3D3D3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DDC7551-C968-14C0-6A33-A23708947278}"/>
                  </a:ext>
                </a:extLst>
              </p:cNvPr>
              <p:cNvSpPr txBox="1"/>
              <p:nvPr/>
            </p:nvSpPr>
            <p:spPr>
              <a:xfrm>
                <a:off x="8672963" y="5820229"/>
                <a:ext cx="24917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Sem resultado / participação baixa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B624434-178F-E73A-8095-1558DDC71C22}"/>
                </a:ext>
              </a:extLst>
            </p:cNvPr>
            <p:cNvGrpSpPr/>
            <p:nvPr/>
          </p:nvGrpSpPr>
          <p:grpSpPr>
            <a:xfrm>
              <a:off x="8224973" y="5499597"/>
              <a:ext cx="2418338" cy="276999"/>
              <a:chOff x="8224973" y="5446883"/>
              <a:chExt cx="2418338" cy="2769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17F2ECBC-8651-026A-7DD1-298C477F4CB6}"/>
                  </a:ext>
                </a:extLst>
              </p:cNvPr>
              <p:cNvSpPr/>
              <p:nvPr/>
            </p:nvSpPr>
            <p:spPr>
              <a:xfrm>
                <a:off x="8224973" y="5446883"/>
                <a:ext cx="333828" cy="261257"/>
              </a:xfrm>
              <a:prstGeom prst="rect">
                <a:avLst/>
              </a:prstGeom>
              <a:solidFill>
                <a:srgbClr val="F3EBE0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0725A18-8BFA-D324-335F-768F16C0667D}"/>
                  </a:ext>
                </a:extLst>
              </p:cNvPr>
              <p:cNvSpPr txBox="1"/>
              <p:nvPr/>
            </p:nvSpPr>
            <p:spPr>
              <a:xfrm>
                <a:off x="8672963" y="5446883"/>
                <a:ext cx="1970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Abaixo do Nível 1 (até 40%)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31C3BD6-24BF-E1B5-5A8E-CA0909EA755C}"/>
                </a:ext>
              </a:extLst>
            </p:cNvPr>
            <p:cNvGrpSpPr/>
            <p:nvPr/>
          </p:nvGrpSpPr>
          <p:grpSpPr>
            <a:xfrm>
              <a:off x="8224973" y="5178963"/>
              <a:ext cx="2309012" cy="276999"/>
              <a:chOff x="8224973" y="5073537"/>
              <a:chExt cx="2309012" cy="27699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5B621253-E576-B182-B600-CAAFEE1875E7}"/>
                  </a:ext>
                </a:extLst>
              </p:cNvPr>
              <p:cNvSpPr/>
              <p:nvPr/>
            </p:nvSpPr>
            <p:spPr>
              <a:xfrm>
                <a:off x="8224973" y="5073537"/>
                <a:ext cx="333828" cy="261257"/>
              </a:xfrm>
              <a:prstGeom prst="rect">
                <a:avLst/>
              </a:prstGeom>
              <a:solidFill>
                <a:srgbClr val="FCDCAF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AA173A9-861C-E0C5-3CD0-9FAD30F747CC}"/>
                  </a:ext>
                </a:extLst>
              </p:cNvPr>
              <p:cNvSpPr txBox="1"/>
              <p:nvPr/>
            </p:nvSpPr>
            <p:spPr>
              <a:xfrm>
                <a:off x="8672963" y="5073537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1 (entre 41% e 50%)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6B3529C-F831-F274-9C5A-BE0AF47B04A1}"/>
                </a:ext>
              </a:extLst>
            </p:cNvPr>
            <p:cNvGrpSpPr/>
            <p:nvPr/>
          </p:nvGrpSpPr>
          <p:grpSpPr>
            <a:xfrm>
              <a:off x="8224973" y="4858329"/>
              <a:ext cx="2309012" cy="276999"/>
              <a:chOff x="8224973" y="4700191"/>
              <a:chExt cx="2309012" cy="27699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CF572A9-DD58-810B-AE52-4B6A761FB91C}"/>
                  </a:ext>
                </a:extLst>
              </p:cNvPr>
              <p:cNvSpPr/>
              <p:nvPr/>
            </p:nvSpPr>
            <p:spPr>
              <a:xfrm>
                <a:off x="8224973" y="4700191"/>
                <a:ext cx="333828" cy="261257"/>
              </a:xfrm>
              <a:prstGeom prst="rect">
                <a:avLst/>
              </a:prstGeom>
              <a:solidFill>
                <a:srgbClr val="F9B27A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D8F512-57B3-E920-4BE4-40C1567D7B0B}"/>
                  </a:ext>
                </a:extLst>
              </p:cNvPr>
              <p:cNvSpPr txBox="1"/>
              <p:nvPr/>
            </p:nvSpPr>
            <p:spPr>
              <a:xfrm>
                <a:off x="8672963" y="4700191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2 (entre 51% e 60%)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E336B9B-D9A5-BB30-9110-A5F696AC1818}"/>
                </a:ext>
              </a:extLst>
            </p:cNvPr>
            <p:cNvGrpSpPr/>
            <p:nvPr/>
          </p:nvGrpSpPr>
          <p:grpSpPr>
            <a:xfrm>
              <a:off x="8224973" y="4537695"/>
              <a:ext cx="2309012" cy="276999"/>
              <a:chOff x="8224973" y="4326845"/>
              <a:chExt cx="2309012" cy="2769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982FB48-08BC-9304-9002-00FAD2E41BAE}"/>
                  </a:ext>
                </a:extLst>
              </p:cNvPr>
              <p:cNvSpPr/>
              <p:nvPr/>
            </p:nvSpPr>
            <p:spPr>
              <a:xfrm>
                <a:off x="8224973" y="4326845"/>
                <a:ext cx="333828" cy="261257"/>
              </a:xfrm>
              <a:prstGeom prst="rect">
                <a:avLst/>
              </a:prstGeom>
              <a:solidFill>
                <a:srgbClr val="F36D4B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A133F5-00DF-1AC4-02C2-0F6E6C21896A}"/>
                  </a:ext>
                </a:extLst>
              </p:cNvPr>
              <p:cNvSpPr txBox="1"/>
              <p:nvPr/>
            </p:nvSpPr>
            <p:spPr>
              <a:xfrm>
                <a:off x="8672963" y="4326845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3 (entre 61% e 70%)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7FB4938-28D7-E832-6102-D776653113E9}"/>
                </a:ext>
              </a:extLst>
            </p:cNvPr>
            <p:cNvGrpSpPr/>
            <p:nvPr/>
          </p:nvGrpSpPr>
          <p:grpSpPr>
            <a:xfrm>
              <a:off x="8224973" y="4217061"/>
              <a:ext cx="2309012" cy="276999"/>
              <a:chOff x="8224973" y="3955812"/>
              <a:chExt cx="2309012" cy="27699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012608-85CA-5A67-01AC-D387400F5040}"/>
                  </a:ext>
                </a:extLst>
              </p:cNvPr>
              <p:cNvSpPr/>
              <p:nvPr/>
            </p:nvSpPr>
            <p:spPr>
              <a:xfrm>
                <a:off x="8224973" y="3955812"/>
                <a:ext cx="333828" cy="261257"/>
              </a:xfrm>
              <a:prstGeom prst="rect">
                <a:avLst/>
              </a:prstGeom>
              <a:solidFill>
                <a:srgbClr val="CA1C13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D771098-B980-7697-8373-83D977A49CEF}"/>
                  </a:ext>
                </a:extLst>
              </p:cNvPr>
              <p:cNvSpPr txBox="1"/>
              <p:nvPr/>
            </p:nvSpPr>
            <p:spPr>
              <a:xfrm>
                <a:off x="8672963" y="3955812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4 (entre 71% e 80%)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42860CA-DEAD-ACD1-BFAD-E4934E5750EB}"/>
                </a:ext>
              </a:extLst>
            </p:cNvPr>
            <p:cNvGrpSpPr/>
            <p:nvPr/>
          </p:nvGrpSpPr>
          <p:grpSpPr>
            <a:xfrm>
              <a:off x="8224973" y="3896427"/>
              <a:ext cx="2137620" cy="276999"/>
              <a:chOff x="8236359" y="3582466"/>
              <a:chExt cx="2137620" cy="27699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A858D4D-A3E2-1204-A18F-113311602CB3}"/>
                  </a:ext>
                </a:extLst>
              </p:cNvPr>
              <p:cNvSpPr/>
              <p:nvPr/>
            </p:nvSpPr>
            <p:spPr>
              <a:xfrm>
                <a:off x="8236359" y="3582466"/>
                <a:ext cx="333828" cy="261257"/>
              </a:xfrm>
              <a:prstGeom prst="rect">
                <a:avLst/>
              </a:prstGeom>
              <a:solidFill>
                <a:srgbClr val="7F0000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F4626F9-C640-7D56-5903-0F8271040038}"/>
                  </a:ext>
                </a:extLst>
              </p:cNvPr>
              <p:cNvSpPr txBox="1"/>
              <p:nvPr/>
            </p:nvSpPr>
            <p:spPr>
              <a:xfrm>
                <a:off x="8684349" y="3582466"/>
                <a:ext cx="16896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5 (acima de 81%)</a:t>
                </a:r>
              </a:p>
            </p:txBody>
          </p:sp>
        </p:grp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45069F-27C3-8128-86D0-E3E380D4A272}"/>
              </a:ext>
            </a:extLst>
          </p:cNvPr>
          <p:cNvCxnSpPr/>
          <p:nvPr/>
        </p:nvCxnSpPr>
        <p:spPr>
          <a:xfrm>
            <a:off x="1819175" y="1176578"/>
            <a:ext cx="5607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054911D-2295-AA59-781F-CB596F4FB122}"/>
              </a:ext>
            </a:extLst>
          </p:cNvPr>
          <p:cNvSpPr txBox="1"/>
          <p:nvPr/>
        </p:nvSpPr>
        <p:spPr>
          <a:xfrm>
            <a:off x="2513430" y="1190895"/>
            <a:ext cx="5045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400" dirty="0"/>
              <a:t>Média Nacional é de 56% crianças alfabetizadas na idade certa</a:t>
            </a:r>
          </a:p>
        </p:txBody>
      </p:sp>
    </p:spTree>
    <p:extLst>
      <p:ext uri="{BB962C8B-B14F-4D97-AF65-F5344CB8AC3E}">
        <p14:creationId xmlns:p14="http://schemas.microsoft.com/office/powerpoint/2010/main" val="231929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686F-E89A-52AC-C5F2-D8235229A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9544A-4DF6-F94D-ED1C-DACE0190B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965" y="653467"/>
            <a:ext cx="1756740" cy="580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D8759E-EE6A-EC70-D733-892400609AD1}"/>
              </a:ext>
            </a:extLst>
          </p:cNvPr>
          <p:cNvSpPr txBox="1"/>
          <p:nvPr/>
        </p:nvSpPr>
        <p:spPr>
          <a:xfrm>
            <a:off x="2317882" y="530821"/>
            <a:ext cx="5277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dirty="0"/>
              <a:t>Com 85% de crianças alfabetizadas na idade certa,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78C95-AEC3-BC70-A75E-D959502F0BDF}"/>
              </a:ext>
            </a:extLst>
          </p:cNvPr>
          <p:cNvSpPr txBox="1"/>
          <p:nvPr/>
        </p:nvSpPr>
        <p:spPr>
          <a:xfrm>
            <a:off x="4299578" y="801661"/>
            <a:ext cx="32322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b="1" dirty="0"/>
              <a:t>Ceará lidera ranking nacional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E58243-70B7-255E-B73C-8874B5F34E87}"/>
              </a:ext>
            </a:extLst>
          </p:cNvPr>
          <p:cNvGrpSpPr/>
          <p:nvPr/>
        </p:nvGrpSpPr>
        <p:grpSpPr>
          <a:xfrm>
            <a:off x="2614108" y="1584596"/>
            <a:ext cx="6337900" cy="5023971"/>
            <a:chOff x="2846515" y="1399429"/>
            <a:chExt cx="6337900" cy="502397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F4A4EF40-5457-0AE6-2845-463B6E3A56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46515" y="1399429"/>
              <a:ext cx="5080000" cy="5023971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C9D2362-000B-4501-6ADF-577DAB9CE4B8}"/>
                </a:ext>
              </a:extLst>
            </p:cNvPr>
            <p:cNvSpPr txBox="1"/>
            <p:nvPr/>
          </p:nvSpPr>
          <p:spPr>
            <a:xfrm>
              <a:off x="7973121" y="2014929"/>
              <a:ext cx="121129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BR" sz="1500" dirty="0">
                  <a:solidFill>
                    <a:schemeClr val="tx1"/>
                  </a:solidFill>
                </a:rPr>
                <a:t>Ceará – 85%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9EB2317-AF21-04AB-D58C-7FB0A8435255}"/>
                </a:ext>
              </a:extLst>
            </p:cNvPr>
            <p:cNvGrpSpPr/>
            <p:nvPr/>
          </p:nvGrpSpPr>
          <p:grpSpPr>
            <a:xfrm>
              <a:off x="7147974" y="2292626"/>
              <a:ext cx="2036441" cy="397565"/>
              <a:chOff x="7147974" y="2292626"/>
              <a:chExt cx="2036441" cy="397565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7F8BA53-AF00-6F76-197C-9BCA663D189A}"/>
                  </a:ext>
                </a:extLst>
              </p:cNvPr>
              <p:cNvCxnSpPr/>
              <p:nvPr/>
            </p:nvCxnSpPr>
            <p:spPr>
              <a:xfrm flipV="1">
                <a:off x="7147974" y="2292626"/>
                <a:ext cx="683062" cy="397565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CD5DD39-9664-A675-2221-526DF6D86C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827888" y="2292626"/>
                <a:ext cx="1356527" cy="3864"/>
              </a:xfrm>
              <a:prstGeom prst="line">
                <a:avLst/>
              </a:prstGeom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53A38B8-C21A-CEB7-AC2D-9EF86D58D2C5}"/>
              </a:ext>
            </a:extLst>
          </p:cNvPr>
          <p:cNvGrpSpPr/>
          <p:nvPr/>
        </p:nvGrpSpPr>
        <p:grpSpPr>
          <a:xfrm>
            <a:off x="7825984" y="4096581"/>
            <a:ext cx="2939698" cy="2200801"/>
            <a:chOff x="8224973" y="3896427"/>
            <a:chExt cx="2939698" cy="2200801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6E1492-D845-83DB-2AF7-3BC5DB47B091}"/>
                </a:ext>
              </a:extLst>
            </p:cNvPr>
            <p:cNvGrpSpPr/>
            <p:nvPr/>
          </p:nvGrpSpPr>
          <p:grpSpPr>
            <a:xfrm>
              <a:off x="8224973" y="5820229"/>
              <a:ext cx="2939698" cy="276999"/>
              <a:chOff x="8224973" y="5820229"/>
              <a:chExt cx="2939698" cy="27699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10C73D3-DEF0-70BF-3F73-67438AD247AC}"/>
                  </a:ext>
                </a:extLst>
              </p:cNvPr>
              <p:cNvSpPr/>
              <p:nvPr/>
            </p:nvSpPr>
            <p:spPr>
              <a:xfrm>
                <a:off x="8224973" y="5820229"/>
                <a:ext cx="333828" cy="261257"/>
              </a:xfrm>
              <a:prstGeom prst="rect">
                <a:avLst/>
              </a:prstGeom>
              <a:solidFill>
                <a:srgbClr val="D3D3D3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D502463-D795-B81C-3304-1783CDE73296}"/>
                  </a:ext>
                </a:extLst>
              </p:cNvPr>
              <p:cNvSpPr txBox="1"/>
              <p:nvPr/>
            </p:nvSpPr>
            <p:spPr>
              <a:xfrm>
                <a:off x="8672963" y="5820229"/>
                <a:ext cx="249170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Sem resultado / participação baixa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D3BF937-9FCF-2A4A-2C15-E9C26BB7D78E}"/>
                </a:ext>
              </a:extLst>
            </p:cNvPr>
            <p:cNvGrpSpPr/>
            <p:nvPr/>
          </p:nvGrpSpPr>
          <p:grpSpPr>
            <a:xfrm>
              <a:off x="8224973" y="5499597"/>
              <a:ext cx="2418338" cy="276999"/>
              <a:chOff x="8224973" y="5446883"/>
              <a:chExt cx="2418338" cy="2769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95764F1-76B7-A3EA-0A9C-510A78121308}"/>
                  </a:ext>
                </a:extLst>
              </p:cNvPr>
              <p:cNvSpPr/>
              <p:nvPr/>
            </p:nvSpPr>
            <p:spPr>
              <a:xfrm>
                <a:off x="8224973" y="5446883"/>
                <a:ext cx="333828" cy="261257"/>
              </a:xfrm>
              <a:prstGeom prst="rect">
                <a:avLst/>
              </a:prstGeom>
              <a:solidFill>
                <a:srgbClr val="F3EBE0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0601BDB-4589-166B-4791-65CE72625668}"/>
                  </a:ext>
                </a:extLst>
              </p:cNvPr>
              <p:cNvSpPr txBox="1"/>
              <p:nvPr/>
            </p:nvSpPr>
            <p:spPr>
              <a:xfrm>
                <a:off x="8672963" y="5446883"/>
                <a:ext cx="197034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Abaixo do Nível 1 (até 40%)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E182596-A111-BD2B-D847-36739417AA81}"/>
                </a:ext>
              </a:extLst>
            </p:cNvPr>
            <p:cNvGrpSpPr/>
            <p:nvPr/>
          </p:nvGrpSpPr>
          <p:grpSpPr>
            <a:xfrm>
              <a:off x="8224973" y="5178963"/>
              <a:ext cx="2309012" cy="276999"/>
              <a:chOff x="8224973" y="5073537"/>
              <a:chExt cx="2309012" cy="27699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3DE06B1-3B8F-BA0C-4907-639541D1BEFD}"/>
                  </a:ext>
                </a:extLst>
              </p:cNvPr>
              <p:cNvSpPr/>
              <p:nvPr/>
            </p:nvSpPr>
            <p:spPr>
              <a:xfrm>
                <a:off x="8224973" y="5073537"/>
                <a:ext cx="333828" cy="261257"/>
              </a:xfrm>
              <a:prstGeom prst="rect">
                <a:avLst/>
              </a:prstGeom>
              <a:solidFill>
                <a:srgbClr val="FCDCAF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C5297FB-E878-1368-8B80-8C8CDC81CAB9}"/>
                  </a:ext>
                </a:extLst>
              </p:cNvPr>
              <p:cNvSpPr txBox="1"/>
              <p:nvPr/>
            </p:nvSpPr>
            <p:spPr>
              <a:xfrm>
                <a:off x="8672963" y="5073537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1 (entre 41% e 50%)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98B88C6-07A3-E4AB-1239-282A37936F51}"/>
                </a:ext>
              </a:extLst>
            </p:cNvPr>
            <p:cNvGrpSpPr/>
            <p:nvPr/>
          </p:nvGrpSpPr>
          <p:grpSpPr>
            <a:xfrm>
              <a:off x="8224973" y="4858329"/>
              <a:ext cx="2309012" cy="276999"/>
              <a:chOff x="8224973" y="4700191"/>
              <a:chExt cx="2309012" cy="276999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B73A32F-D623-BC22-ABEC-3CC210602966}"/>
                  </a:ext>
                </a:extLst>
              </p:cNvPr>
              <p:cNvSpPr/>
              <p:nvPr/>
            </p:nvSpPr>
            <p:spPr>
              <a:xfrm>
                <a:off x="8224973" y="4700191"/>
                <a:ext cx="333828" cy="261257"/>
              </a:xfrm>
              <a:prstGeom prst="rect">
                <a:avLst/>
              </a:prstGeom>
              <a:solidFill>
                <a:srgbClr val="F9B27A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C4169EE-BAA7-11A2-7543-78E1E537E678}"/>
                  </a:ext>
                </a:extLst>
              </p:cNvPr>
              <p:cNvSpPr txBox="1"/>
              <p:nvPr/>
            </p:nvSpPr>
            <p:spPr>
              <a:xfrm>
                <a:off x="8672963" y="4700191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2 (entre 51% e 60%)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7C3B6B6-566F-3DD2-B1B0-DDE9D8490762}"/>
                </a:ext>
              </a:extLst>
            </p:cNvPr>
            <p:cNvGrpSpPr/>
            <p:nvPr/>
          </p:nvGrpSpPr>
          <p:grpSpPr>
            <a:xfrm>
              <a:off x="8224973" y="4537695"/>
              <a:ext cx="2309012" cy="276999"/>
              <a:chOff x="8224973" y="4326845"/>
              <a:chExt cx="2309012" cy="276999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690C671-CC63-70C6-2E11-6882C3FCE35A}"/>
                  </a:ext>
                </a:extLst>
              </p:cNvPr>
              <p:cNvSpPr/>
              <p:nvPr/>
            </p:nvSpPr>
            <p:spPr>
              <a:xfrm>
                <a:off x="8224973" y="4326845"/>
                <a:ext cx="333828" cy="261257"/>
              </a:xfrm>
              <a:prstGeom prst="rect">
                <a:avLst/>
              </a:prstGeom>
              <a:solidFill>
                <a:srgbClr val="F36D4B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F09E564-F1AB-C78F-FB63-593A9CABF815}"/>
                  </a:ext>
                </a:extLst>
              </p:cNvPr>
              <p:cNvSpPr txBox="1"/>
              <p:nvPr/>
            </p:nvSpPr>
            <p:spPr>
              <a:xfrm>
                <a:off x="8672963" y="4326845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3 (entre 61% e 70%)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656FABB1-8DC7-DB3B-B4DB-ECA13A411B1F}"/>
                </a:ext>
              </a:extLst>
            </p:cNvPr>
            <p:cNvGrpSpPr/>
            <p:nvPr/>
          </p:nvGrpSpPr>
          <p:grpSpPr>
            <a:xfrm>
              <a:off x="8224973" y="4217061"/>
              <a:ext cx="2309012" cy="276999"/>
              <a:chOff x="8224973" y="3955812"/>
              <a:chExt cx="2309012" cy="276999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1C0BD38-7F94-F4CF-4215-D5832710B54E}"/>
                  </a:ext>
                </a:extLst>
              </p:cNvPr>
              <p:cNvSpPr/>
              <p:nvPr/>
            </p:nvSpPr>
            <p:spPr>
              <a:xfrm>
                <a:off x="8224973" y="3955812"/>
                <a:ext cx="333828" cy="261257"/>
              </a:xfrm>
              <a:prstGeom prst="rect">
                <a:avLst/>
              </a:prstGeom>
              <a:solidFill>
                <a:srgbClr val="CA1C13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053BF23-B309-F653-9AE8-D4962F8D76CF}"/>
                  </a:ext>
                </a:extLst>
              </p:cNvPr>
              <p:cNvSpPr txBox="1"/>
              <p:nvPr/>
            </p:nvSpPr>
            <p:spPr>
              <a:xfrm>
                <a:off x="8672963" y="3955812"/>
                <a:ext cx="186102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4 (entre 71% e 80%)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A1E0A33-DFEE-1DBF-D326-124B896EC647}"/>
                </a:ext>
              </a:extLst>
            </p:cNvPr>
            <p:cNvGrpSpPr/>
            <p:nvPr/>
          </p:nvGrpSpPr>
          <p:grpSpPr>
            <a:xfrm>
              <a:off x="8224973" y="3896427"/>
              <a:ext cx="2137620" cy="276999"/>
              <a:chOff x="8236359" y="3582466"/>
              <a:chExt cx="2137620" cy="276999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9860EA6-F0DE-5028-BA43-BD52A14576DA}"/>
                  </a:ext>
                </a:extLst>
              </p:cNvPr>
              <p:cNvSpPr/>
              <p:nvPr/>
            </p:nvSpPr>
            <p:spPr>
              <a:xfrm>
                <a:off x="8236359" y="3582466"/>
                <a:ext cx="333828" cy="261257"/>
              </a:xfrm>
              <a:prstGeom prst="rect">
                <a:avLst/>
              </a:prstGeom>
              <a:solidFill>
                <a:srgbClr val="7F0000"/>
              </a:solidFill>
              <a:ln w="6350">
                <a:solidFill>
                  <a:srgbClr val="7C828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R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5978D4D-B497-0A2E-A4AC-2748762D90A1}"/>
                  </a:ext>
                </a:extLst>
              </p:cNvPr>
              <p:cNvSpPr txBox="1"/>
              <p:nvPr/>
            </p:nvSpPr>
            <p:spPr>
              <a:xfrm>
                <a:off x="8684349" y="3582466"/>
                <a:ext cx="16896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BR" sz="1200" dirty="0"/>
                  <a:t>Nível 5 (acima de 81%)</a:t>
                </a:r>
              </a:p>
            </p:txBody>
          </p:sp>
        </p:grpSp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53972D-F469-61C9-37A6-728EFCCC1294}"/>
              </a:ext>
            </a:extLst>
          </p:cNvPr>
          <p:cNvCxnSpPr/>
          <p:nvPr/>
        </p:nvCxnSpPr>
        <p:spPr>
          <a:xfrm>
            <a:off x="1819175" y="1176578"/>
            <a:ext cx="56077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EA0B973-4C49-BCD0-2E24-76141AA6520C}"/>
              </a:ext>
            </a:extLst>
          </p:cNvPr>
          <p:cNvSpPr txBox="1"/>
          <p:nvPr/>
        </p:nvSpPr>
        <p:spPr>
          <a:xfrm>
            <a:off x="2513430" y="1190895"/>
            <a:ext cx="50453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1400" dirty="0"/>
              <a:t>Média Nacional é de 56% crianças alfabetizadas na idade certa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597504-4EA3-C0F4-31A0-C1D49D8C274D}"/>
              </a:ext>
            </a:extLst>
          </p:cNvPr>
          <p:cNvSpPr txBox="1"/>
          <p:nvPr/>
        </p:nvSpPr>
        <p:spPr>
          <a:xfrm>
            <a:off x="1829401" y="5319740"/>
            <a:ext cx="2887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200" dirty="0">
                <a:solidFill>
                  <a:schemeClr val="bg1">
                    <a:lumMod val="65000"/>
                  </a:schemeClr>
                </a:solidFill>
              </a:rPr>
              <a:t>Fonte: Inep/MEC – Saeb 2019 e 2021 | Sistemas Estaduais de Avaliação 2023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C73975-F67E-1BDA-14FE-EC2C8F3067CE}"/>
              </a:ext>
            </a:extLst>
          </p:cNvPr>
          <p:cNvSpPr txBox="1"/>
          <p:nvPr/>
        </p:nvSpPr>
        <p:spPr>
          <a:xfrm>
            <a:off x="1829401" y="4575997"/>
            <a:ext cx="1918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28.maio.2024</a:t>
            </a:r>
          </a:p>
          <a:p>
            <a:r>
              <a:rPr lang="en-BR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Compromisso Nacional Criança Alfabetizada</a:t>
            </a:r>
          </a:p>
        </p:txBody>
      </p:sp>
    </p:spTree>
    <p:extLst>
      <p:ext uri="{BB962C8B-B14F-4D97-AF65-F5344CB8AC3E}">
        <p14:creationId xmlns:p14="http://schemas.microsoft.com/office/powerpoint/2010/main" val="1531516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C3432-61F7-AF42-5B3D-F5E0CDC3042A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O Makeover: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E9D96D-1799-4DD9-A6AD-3DDF1DD28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140" y="1332542"/>
            <a:ext cx="6284726" cy="41929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E2717D-8149-A90F-F073-EA71DB0D5AE6}"/>
              </a:ext>
            </a:extLst>
          </p:cNvPr>
          <p:cNvSpPr txBox="1"/>
          <p:nvPr/>
        </p:nvSpPr>
        <p:spPr>
          <a:xfrm>
            <a:off x="318346" y="1352134"/>
            <a:ext cx="498963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lang="en-BR" sz="2400" dirty="0"/>
              <a:t>Definição do foco e mensagem</a:t>
            </a:r>
          </a:p>
          <a:p>
            <a:pPr marL="285750" indent="-285750">
              <a:buFont typeface="Wingdings" pitchFamily="2" charset="2"/>
              <a:buChar char="ü"/>
            </a:pPr>
            <a:endParaRPr lang="en-BR" sz="24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BR" sz="2400" dirty="0"/>
              <a:t>Redução de informações desnecessárias</a:t>
            </a:r>
          </a:p>
          <a:p>
            <a:pPr marL="285750" indent="-285750">
              <a:buFont typeface="Wingdings" pitchFamily="2" charset="2"/>
              <a:buChar char="ü"/>
            </a:pPr>
            <a:endParaRPr lang="en-BR" sz="24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BR" sz="2400" dirty="0"/>
              <a:t>Revisão das cores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BR" sz="2400" dirty="0"/>
              <a:t>Clareza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BR" sz="2400" dirty="0"/>
              <a:t>Foco</a:t>
            </a:r>
          </a:p>
          <a:p>
            <a:pPr marL="742950" lvl="1" indent="-285750">
              <a:buFont typeface="Wingdings" pitchFamily="2" charset="2"/>
              <a:buChar char="ü"/>
            </a:pPr>
            <a:r>
              <a:rPr lang="en-BR" sz="2400" dirty="0"/>
              <a:t>Acessibilidade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4747FA-0EA7-C5A5-A838-DABB07E0FAF8}"/>
              </a:ext>
            </a:extLst>
          </p:cNvPr>
          <p:cNvSpPr txBox="1"/>
          <p:nvPr/>
        </p:nvSpPr>
        <p:spPr>
          <a:xfrm>
            <a:off x="574248" y="5139910"/>
            <a:ext cx="447782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2800" dirty="0"/>
              <a:t>O olhar </a:t>
            </a:r>
            <a:r>
              <a:rPr lang="en-BR" sz="2800" dirty="0">
                <a:solidFill>
                  <a:schemeClr val="accent2"/>
                </a:solidFill>
              </a:rPr>
              <a:t>percorre a imagem</a:t>
            </a:r>
            <a:r>
              <a:rPr lang="en-BR" sz="2800" dirty="0"/>
              <a:t>, </a:t>
            </a:r>
          </a:p>
          <a:p>
            <a:r>
              <a:rPr lang="en-BR" sz="2800" dirty="0"/>
              <a:t>e não fica brigando com ela</a:t>
            </a:r>
          </a:p>
        </p:txBody>
      </p:sp>
    </p:spTree>
    <p:extLst>
      <p:ext uri="{BB962C8B-B14F-4D97-AF65-F5344CB8AC3E}">
        <p14:creationId xmlns:p14="http://schemas.microsoft.com/office/powerpoint/2010/main" val="52218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904D945-4101-509D-DEB7-49B54DCD8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68" y="1332542"/>
            <a:ext cx="4924997" cy="4937340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8C1AAE7-C9C5-9825-3D06-99D151B1D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5506" y="1704754"/>
            <a:ext cx="6284726" cy="419291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2672847-8BB8-E1A2-B43F-620F9FF0536A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Antes e Depois - comparação</a:t>
            </a:r>
          </a:p>
        </p:txBody>
      </p:sp>
    </p:spTree>
    <p:extLst>
      <p:ext uri="{BB962C8B-B14F-4D97-AF65-F5344CB8AC3E}">
        <p14:creationId xmlns:p14="http://schemas.microsoft.com/office/powerpoint/2010/main" val="233035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202B-FD6B-062B-4E38-5E0605572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47EC799-8497-DEED-BB55-A391D840CFC4}"/>
              </a:ext>
            </a:extLst>
          </p:cNvPr>
          <p:cNvGraphicFramePr/>
          <p:nvPr/>
        </p:nvGraphicFramePr>
        <p:xfrm>
          <a:off x="2433443" y="719666"/>
          <a:ext cx="9297639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ED2A5BF-2362-519B-11A6-865758F06478}"/>
              </a:ext>
            </a:extLst>
          </p:cNvPr>
          <p:cNvSpPr txBox="1"/>
          <p:nvPr/>
        </p:nvSpPr>
        <p:spPr>
          <a:xfrm>
            <a:off x="809084" y="4142130"/>
            <a:ext cx="2728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BR" sz="4800" dirty="0"/>
              <a:t>Resumo: 5 passos</a:t>
            </a:r>
          </a:p>
        </p:txBody>
      </p:sp>
      <p:pic>
        <p:nvPicPr>
          <p:cNvPr id="6" name="Graphic 5" descr="Dance steps with solid fill">
            <a:extLst>
              <a:ext uri="{FF2B5EF4-FFF2-40B4-BE49-F238E27FC236}">
                <a16:creationId xmlns:a16="http://schemas.microsoft.com/office/drawing/2014/main" id="{32756D6E-692A-ACE7-71BF-DD69EA21C4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90643" y="544835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9589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4219D2-6CB2-214F-48D1-A95EC8C40D88}"/>
              </a:ext>
            </a:extLst>
          </p:cNvPr>
          <p:cNvSpPr txBox="1">
            <a:spLocks/>
          </p:cNvSpPr>
          <p:nvPr/>
        </p:nvSpPr>
        <p:spPr>
          <a:xfrm>
            <a:off x="7045534" y="5137627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6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Call2Action</a:t>
            </a:r>
          </a:p>
        </p:txBody>
      </p:sp>
      <p:pic>
        <p:nvPicPr>
          <p:cNvPr id="8" name="Graphic 7" descr="Clapper board with solid fill">
            <a:extLst>
              <a:ext uri="{FF2B5EF4-FFF2-40B4-BE49-F238E27FC236}">
                <a16:creationId xmlns:a16="http://schemas.microsoft.com/office/drawing/2014/main" id="{DD101FA6-6B62-9738-C3A4-B7497D23E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4B5506-606A-93FD-C2A8-0F6F4432A5DC}"/>
              </a:ext>
            </a:extLst>
          </p:cNvPr>
          <p:cNvSpPr txBox="1"/>
          <p:nvPr/>
        </p:nvSpPr>
        <p:spPr>
          <a:xfrm>
            <a:off x="5735843" y="797043"/>
            <a:ext cx="41408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dirty="0"/>
              <a:t>1 – Encontre um gráfico confuso.</a:t>
            </a:r>
          </a:p>
          <a:p>
            <a:r>
              <a:rPr lang="en-BR" dirty="0"/>
              <a:t>2 – Faça um makeover</a:t>
            </a:r>
          </a:p>
          <a:p>
            <a:r>
              <a:rPr lang="en-BR" dirty="0"/>
              <a:t>3 – Compartilhe na comunidade do TDC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DE047E-8922-E7BD-D208-81AAFAFD1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5413" y="205375"/>
            <a:ext cx="2031593" cy="3857083"/>
          </a:xfrm>
          <a:prstGeom prst="rect">
            <a:avLst/>
          </a:prstGeom>
        </p:spPr>
      </p:pic>
      <p:pic>
        <p:nvPicPr>
          <p:cNvPr id="13" name="Graphic 12" descr="Arrow: Slight curve with solid fill">
            <a:extLst>
              <a:ext uri="{FF2B5EF4-FFF2-40B4-BE49-F238E27FC236}">
                <a16:creationId xmlns:a16="http://schemas.microsoft.com/office/drawing/2014/main" id="{C18404DD-1F1B-BF25-7AC0-36A57041F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25575">
            <a:off x="8991332" y="157959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48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7C71D-929C-51CF-A272-0C8F57EF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80B6-DF59-8997-ADED-60E54C86CB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BR" sz="4400" dirty="0"/>
              <a:t>Não é você. É o gráfico.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7E87A6-35E3-FE54-6E56-356959EE90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2235" y="3509963"/>
            <a:ext cx="11708780" cy="1655762"/>
          </a:xfrm>
        </p:spPr>
        <p:txBody>
          <a:bodyPr>
            <a:normAutofit/>
          </a:bodyPr>
          <a:lstStyle/>
          <a:p>
            <a:r>
              <a:rPr lang="en-BR" sz="5400" dirty="0"/>
              <a:t>Mas agora você sabe como consertar.</a:t>
            </a:r>
          </a:p>
        </p:txBody>
      </p:sp>
    </p:spTree>
    <p:extLst>
      <p:ext uri="{BB962C8B-B14F-4D97-AF65-F5344CB8AC3E}">
        <p14:creationId xmlns:p14="http://schemas.microsoft.com/office/powerpoint/2010/main" val="242825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376E-36A5-2B93-6751-1CCF4634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Storytelling with Data: A Data Visualization Guide for Business Professionals">
            <a:extLst>
              <a:ext uri="{FF2B5EF4-FFF2-40B4-BE49-F238E27FC236}">
                <a16:creationId xmlns:a16="http://schemas.microsoft.com/office/drawing/2014/main" id="{0D8F87C6-0FE2-FC9E-7BC9-360D6952D0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360" y="2042143"/>
            <a:ext cx="3228567" cy="4022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Storytelling with Data: Before and After - Practical Makeovers for Powerful Data Stories (English Edition)">
            <a:extLst>
              <a:ext uri="{FF2B5EF4-FFF2-40B4-BE49-F238E27FC236}">
                <a16:creationId xmlns:a16="http://schemas.microsoft.com/office/drawing/2014/main" id="{692A2215-1E37-5C8F-9231-E416D23D9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716" y="2042143"/>
            <a:ext cx="3228567" cy="404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storytelling with data">
            <a:extLst>
              <a:ext uri="{FF2B5EF4-FFF2-40B4-BE49-F238E27FC236}">
                <a16:creationId xmlns:a16="http://schemas.microsoft.com/office/drawing/2014/main" id="{1D16E7F9-2D13-0DF6-5C2A-4C21B4B19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2072" y="2001742"/>
            <a:ext cx="3228567" cy="4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7DDD26-CCF7-F18C-FB37-913EF3C85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6698" y="2955772"/>
            <a:ext cx="3499314" cy="33976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4B55525-B2A9-1B54-0BCC-A5512841DFD7}"/>
              </a:ext>
            </a:extLst>
          </p:cNvPr>
          <p:cNvSpPr txBox="1"/>
          <p:nvPr/>
        </p:nvSpPr>
        <p:spPr>
          <a:xfrm>
            <a:off x="8132466" y="2524087"/>
            <a:ext cx="3587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hlinkClick r:id="rId7"/>
              </a:rPr>
              <a:t>https://</a:t>
            </a:r>
            <a:r>
              <a:rPr lang="en-US" sz="1600" i="1" dirty="0" err="1">
                <a:hlinkClick r:id="rId7"/>
              </a:rPr>
              <a:t>www.storytellingwithdata.com</a:t>
            </a:r>
            <a:r>
              <a:rPr lang="en-US" sz="1600" i="1" dirty="0">
                <a:hlinkClick r:id="rId7"/>
              </a:rPr>
              <a:t>/</a:t>
            </a:r>
            <a:endParaRPr lang="en-BR" sz="1600" i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D5E48C-38F7-6B47-C5F3-A7249F13B130}"/>
              </a:ext>
            </a:extLst>
          </p:cNvPr>
          <p:cNvSpPr txBox="1">
            <a:spLocks/>
          </p:cNvSpPr>
          <p:nvPr/>
        </p:nvSpPr>
        <p:spPr>
          <a:xfrm>
            <a:off x="318346" y="26571"/>
            <a:ext cx="1153668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BR" sz="3200" dirty="0"/>
              <a:t>Recursos</a:t>
            </a:r>
          </a:p>
        </p:txBody>
      </p:sp>
    </p:spTree>
    <p:extLst>
      <p:ext uri="{BB962C8B-B14F-4D97-AF65-F5344CB8AC3E}">
        <p14:creationId xmlns:p14="http://schemas.microsoft.com/office/powerpoint/2010/main" val="1090202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8B6047E-273D-BC89-A1D2-2342E9AA8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149" y="2751373"/>
            <a:ext cx="2571851" cy="385928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45D7F7-7175-BDCA-2326-CBC35D64960E}"/>
              </a:ext>
            </a:extLst>
          </p:cNvPr>
          <p:cNvSpPr txBox="1"/>
          <p:nvPr/>
        </p:nvSpPr>
        <p:spPr>
          <a:xfrm>
            <a:off x="1176876" y="6115005"/>
            <a:ext cx="2929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https://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about.me</a:t>
            </a:r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adrianaweingart</a:t>
            </a:r>
            <a:endParaRPr lang="en-BR" dirty="0">
              <a:solidFill>
                <a:schemeClr val="tx2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0B07E4-F966-9F7D-B43E-FE7EABF0AC33}"/>
              </a:ext>
            </a:extLst>
          </p:cNvPr>
          <p:cNvSpPr txBox="1"/>
          <p:nvPr/>
        </p:nvSpPr>
        <p:spPr>
          <a:xfrm>
            <a:off x="1176876" y="5804019"/>
            <a:ext cx="3928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https://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www.linkedin.com</a:t>
            </a:r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/in/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adrianaweingart</a:t>
            </a:r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/</a:t>
            </a:r>
            <a:endParaRPr lang="en-BR" dirty="0">
              <a:solidFill>
                <a:schemeClr val="tx2"/>
              </a:solidFill>
              <a:latin typeface="Avenir Next Condensed" panose="020B0506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6E21C-8194-E5F4-B9C9-146BABFD63B0}"/>
              </a:ext>
            </a:extLst>
          </p:cNvPr>
          <p:cNvSpPr txBox="1"/>
          <p:nvPr/>
        </p:nvSpPr>
        <p:spPr>
          <a:xfrm>
            <a:off x="1176876" y="5493033"/>
            <a:ext cx="2813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https://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linktr.ee</a:t>
            </a:r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adrianaweingart</a:t>
            </a:r>
            <a:endParaRPr lang="en-BR" dirty="0">
              <a:solidFill>
                <a:schemeClr val="tx2"/>
              </a:solidFill>
              <a:latin typeface="Avenir Next Condensed" panose="020B05060202020202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B75EF90-33D3-E2C9-3B73-9049EC07252E}"/>
              </a:ext>
            </a:extLst>
          </p:cNvPr>
          <p:cNvGrpSpPr/>
          <p:nvPr/>
        </p:nvGrpSpPr>
        <p:grpSpPr>
          <a:xfrm>
            <a:off x="16048" y="5708423"/>
            <a:ext cx="1160828" cy="830902"/>
            <a:chOff x="3475329" y="2087246"/>
            <a:chExt cx="4303467" cy="308035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DD2DD0D-88A8-3A30-A4C2-BFA7CB10E6A4}"/>
                </a:ext>
              </a:extLst>
            </p:cNvPr>
            <p:cNvCxnSpPr/>
            <p:nvPr/>
          </p:nvCxnSpPr>
          <p:spPr>
            <a:xfrm flipV="1">
              <a:off x="4542423" y="2559918"/>
              <a:ext cx="0" cy="216000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BA8B41-6601-A05C-6A61-DF0CB33CB8E7}"/>
                </a:ext>
              </a:extLst>
            </p:cNvPr>
            <p:cNvCxnSpPr/>
            <p:nvPr/>
          </p:nvCxnSpPr>
          <p:spPr>
            <a:xfrm flipV="1">
              <a:off x="6721600" y="2547423"/>
              <a:ext cx="0" cy="216000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88BC524-AD02-D5E8-ACAE-4AAF7282A4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3583" y="2559918"/>
              <a:ext cx="1092909" cy="213501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76F0D9-DDEF-14C6-8162-D29B9E564A1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3850" y="2559918"/>
              <a:ext cx="1080000" cy="216000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2371767-E8CC-FF40-8A63-8DCC00E62B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5009" y="2548781"/>
              <a:ext cx="1080000" cy="216000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C13DC5C1-B56B-28A5-C849-AFBB82F2F0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48473" y="2559918"/>
              <a:ext cx="1080000" cy="216000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DCFFF66-B34A-8E4F-4D37-D0C1591811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88691" y="3633773"/>
              <a:ext cx="1080000" cy="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DAD6CF-06C3-3BA8-7137-B67CAA2AE32C}"/>
                </a:ext>
              </a:extLst>
            </p:cNvPr>
            <p:cNvSpPr/>
            <p:nvPr/>
          </p:nvSpPr>
          <p:spPr>
            <a:xfrm>
              <a:off x="4091978" y="2087246"/>
              <a:ext cx="3080353" cy="3080353"/>
            </a:xfrm>
            <a:prstGeom prst="ellipse">
              <a:avLst/>
            </a:prstGeom>
            <a:noFill/>
            <a:ln w="317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R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B28232E-CEDC-82C6-91EA-BCEE079BB9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8796" y="4712210"/>
              <a:ext cx="2160000" cy="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FE6C0C6-66CB-48A0-861E-C5862419B8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5329" y="2563093"/>
              <a:ext cx="2160000" cy="0"/>
            </a:xfrm>
            <a:prstGeom prst="line">
              <a:avLst/>
            </a:prstGeom>
            <a:ln w="317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Picture 28" descr="A person wearing glasses and a necklace&#10;&#10;AI-generated content may be incorrect.">
            <a:extLst>
              <a:ext uri="{FF2B5EF4-FFF2-40B4-BE49-F238E27FC236}">
                <a16:creationId xmlns:a16="http://schemas.microsoft.com/office/drawing/2014/main" id="{4BC76D64-21AA-0DE9-E037-BE8E059F5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666" y="1687095"/>
            <a:ext cx="3516294" cy="3483811"/>
          </a:xfrm>
          <a:prstGeom prst="rect">
            <a:avLst/>
          </a:prstGeom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66AE93-7EFD-B02F-D6C2-5B9928A08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90435">
            <a:off x="1443503" y="-57293"/>
            <a:ext cx="5434620" cy="33837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</p:pic>
      <p:pic>
        <p:nvPicPr>
          <p:cNvPr id="15" name="Picture 2">
            <a:extLst>
              <a:ext uri="{FF2B5EF4-FFF2-40B4-BE49-F238E27FC236}">
                <a16:creationId xmlns:a16="http://schemas.microsoft.com/office/drawing/2014/main" id="{010FD5F1-C08A-FF0C-F084-2890E9943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4058" y="1687095"/>
            <a:ext cx="3697365" cy="3483810"/>
          </a:xfrm>
          <a:prstGeom prst="rect">
            <a:avLst/>
          </a:prstGeom>
          <a:noFill/>
          <a:ln>
            <a:solidFill>
              <a:schemeClr val="bg1">
                <a:lumMod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8866EE6-C821-218E-A0E4-C45A173B8E75}"/>
              </a:ext>
            </a:extLst>
          </p:cNvPr>
          <p:cNvSpPr txBox="1"/>
          <p:nvPr/>
        </p:nvSpPr>
        <p:spPr>
          <a:xfrm>
            <a:off x="1176876" y="6425991"/>
            <a:ext cx="4115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https://</a:t>
            </a:r>
            <a:r>
              <a:rPr lang="en-US" dirty="0" err="1">
                <a:solidFill>
                  <a:schemeClr val="tx2"/>
                </a:solidFill>
                <a:latin typeface="Avenir Next Condensed" panose="020B0506020202020204" pitchFamily="34" charset="0"/>
              </a:rPr>
              <a:t>comunidade.thedevconf.com</a:t>
            </a:r>
            <a:r>
              <a:rPr lang="en-US" dirty="0">
                <a:solidFill>
                  <a:schemeClr val="tx2"/>
                </a:solidFill>
                <a:latin typeface="Avenir Next Condensed" panose="020B0506020202020204" pitchFamily="34" charset="0"/>
              </a:rPr>
              <a:t>/u/9f6909f7</a:t>
            </a:r>
            <a:endParaRPr lang="en-BR" dirty="0">
              <a:solidFill>
                <a:schemeClr val="tx2"/>
              </a:solidFill>
              <a:latin typeface="Avenir Next Condense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2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2229</Words>
  <Application>Microsoft Macintosh PowerPoint</Application>
  <PresentationFormat>Widescreen</PresentationFormat>
  <Paragraphs>351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Avenir Next Condensed</vt:lpstr>
      <vt:lpstr>Wingdings</vt:lpstr>
      <vt:lpstr>Office Theme</vt:lpstr>
      <vt:lpstr>Não é você. É o gráfico.</vt:lpstr>
      <vt:lpstr>PowerPoint Presentation</vt:lpstr>
      <vt:lpstr>Apresentar dados</vt:lpstr>
      <vt:lpstr>O que torna um  gráfico confuso?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Não é você. É o gráfico.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Não é você. É o gráfico.</dc:title>
  <dc:subject>TDC - Workshoop</dc:subject>
  <dc:creator>Adriana Weingart</dc:creator>
  <cp:keywords/>
  <dc:description/>
  <cp:lastModifiedBy>Adriana Weingart</cp:lastModifiedBy>
  <cp:revision>17</cp:revision>
  <dcterms:created xsi:type="dcterms:W3CDTF">2026-02-28T01:53:13Z</dcterms:created>
  <dcterms:modified xsi:type="dcterms:W3CDTF">2026-03-11T23:34:30Z</dcterms:modified>
  <cp:category/>
</cp:coreProperties>
</file>